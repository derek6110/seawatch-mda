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68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083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2377440"/>
            <a:ext cx="7315200" cy="7315200"/>
          </a:xfrm>
          <a:prstGeom prst="ellipse">
            <a:avLst/>
          </a:prstGeom>
          <a:solidFill>
            <a:srgbClr val="102338"/>
          </a:solidFill>
          <a:ln/>
        </p:spPr>
      </p:sp>
      <p:pic>
        <p:nvPicPr>
          <p:cNvPr id="3" name="Image 0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417320"/>
            <a:ext cx="1783080" cy="1709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880360" y="1508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SeaWatch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2926080" y="267004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NAVY  ·  MARITIME DOMAIN AWARENESS SYSTEM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944368" y="3246120"/>
            <a:ext cx="6583680" cy="0"/>
          </a:xfrm>
          <a:prstGeom prst="line">
            <a:avLst/>
          </a:prstGeom>
          <a:noFill/>
          <a:ln w="12700">
            <a:solidFill>
              <a:srgbClr val="2449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907792" y="34015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8EE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Capabilities Brief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92608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Higher Command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576072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5760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576072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/>
        </p:spPr>
      </p:sp>
      <p:sp>
        <p:nvSpPr>
          <p:cNvPr id="12" name="Text 9"/>
          <p:cNvSpPr/>
          <p:nvPr/>
        </p:nvSpPr>
        <p:spPr>
          <a:xfrm>
            <a:off x="2468880" y="5760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9080" y="576072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/>
        </p:spPr>
      </p:sp>
      <p:sp>
        <p:nvSpPr>
          <p:cNvPr id="14" name="Text 11"/>
          <p:cNvSpPr/>
          <p:nvPr/>
        </p:nvSpPr>
        <p:spPr>
          <a:xfrm>
            <a:off x="4069080" y="5760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89320" y="57150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maritime domain awareness platform for vessel tracking, dark-vessel detection,</a:t>
            </a:r>
            <a:endParaRPr lang="en-US" sz="1150" dirty="0"/>
          </a:p>
          <a:p>
            <a:pPr marL="0" indent="0" algn="r"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inter-agency collaboration and threat alerting across Ghana’s waters and the Gulf of Guinea.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ENVIRONMENT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Gulf of Guinea is a contested maritime domain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48840" cy="1508760"/>
          </a:xfrm>
          <a:prstGeom prst="roundRect">
            <a:avLst>
              <a:gd name="adj" fmla="val 5455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385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vessels transit the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of Guinea region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83080"/>
            <a:ext cx="2148840" cy="1508760"/>
          </a:xfrm>
          <a:prstGeom prst="roundRect">
            <a:avLst>
              <a:gd name="adj" fmla="val 5455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80360" y="19385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NM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017520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Economic Zone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monitor &amp; protect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0" y="1783080"/>
            <a:ext cx="2148840" cy="1508760"/>
          </a:xfrm>
          <a:prstGeom prst="roundRect">
            <a:avLst>
              <a:gd name="adj" fmla="val 5455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12080" y="19385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349240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oil fields —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Jubilee · TEN · Sankofa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80960" y="1783080"/>
            <a:ext cx="3959352" cy="4114800"/>
          </a:xfrm>
          <a:prstGeom prst="roundRect">
            <a:avLst>
              <a:gd name="adj" fmla="val 2079"/>
            </a:avLst>
          </a:prstGeom>
          <a:solidFill>
            <a:srgbClr val="0A1A2E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95528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THREATS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73568" y="2523744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Piracy &amp; armed robbery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2670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kidnap-for-ransom, hijack at sea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73568" y="3200400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3099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IUU fishing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3346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illegal, unreported &amp; unregulated catch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73568" y="3877056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776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Smuggling &amp; trafficking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0" y="4023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narcotics, arms, fuel, persons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73568" y="4553712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453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vessels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0" y="47000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switched off to evade detection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73568" y="5230368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5129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Oil-infrastructure risk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53766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incursions near FPSOs &amp; platforms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3703320"/>
            <a:ext cx="6903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 blindness — gaps in the maritime picture — lets these threats operate undetected. SeaWatch closes that gap.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B7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SEAWATCH DELIVERS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screen. The whole maritime picture.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web-based common operating picture that fuses vessel tracking, automated threat detection and inter-agency collaboration — accessible from any Maritime Operations Centre.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724912"/>
            <a:ext cx="566928" cy="566928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common operating picture of every cooperative contact across the EEZ and Gulf of Guinea.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11880" y="2724912"/>
            <a:ext cx="566928" cy="566928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1188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61188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dark-vessel detection and threat alerts — AIS gaps, spoofing, loitering, STS, zone breaches.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2724912"/>
            <a:ext cx="566928" cy="566928"/>
          </a:xfrm>
          <a:prstGeom prst="ellipse">
            <a:avLst/>
          </a:prstGeom>
          <a:solidFill>
            <a:srgbClr val="B58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40080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 Operations Centres and partner agencies share tracks, incidents and tasking in real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1540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89720" y="2724912"/>
            <a:ext cx="566928" cy="566928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8972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18972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assets, run track replay, and issue printable situation reports for command decisions.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fusion into a single operating picture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208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3500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&amp; satellite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identification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953512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0998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Coastal radar &amp;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non-cooperative contacts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032504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Satellite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Optical / SAR imagery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dark contacts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60520" y="2286000"/>
            <a:ext cx="2286000" cy="2194560"/>
          </a:xfrm>
          <a:prstGeom prst="roundRect">
            <a:avLst>
              <a:gd name="adj" fmla="val 3750"/>
            </a:avLst>
          </a:prstGeom>
          <a:solidFill>
            <a:srgbClr val="0A1A2E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60520" y="2834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SeaWatch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160520" y="3291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2331720"/>
            <a:ext cx="86868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91840" y="3410712"/>
            <a:ext cx="86868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291840" y="4489704"/>
            <a:ext cx="86868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46520" y="3383280"/>
            <a:ext cx="91440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1874520"/>
            <a:ext cx="4233672" cy="3703320"/>
          </a:xfrm>
          <a:prstGeom prst="roundRect">
            <a:avLst>
              <a:gd name="adj" fmla="val 2222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35240" y="20574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OPERATING PICTURE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80960" y="257860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3" name="Text 21"/>
          <p:cNvSpPr/>
          <p:nvPr/>
        </p:nvSpPr>
        <p:spPr>
          <a:xfrm>
            <a:off x="7936992" y="2487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vessel tracks, classification &amp; search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0" y="312724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5" name="Text 23"/>
          <p:cNvSpPr/>
          <p:nvPr/>
        </p:nvSpPr>
        <p:spPr>
          <a:xfrm>
            <a:off x="7936992" y="3035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threat &amp; anomaly alerts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680960" y="367588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7" name="Text 25"/>
          <p:cNvSpPr/>
          <p:nvPr/>
        </p:nvSpPr>
        <p:spPr>
          <a:xfrm>
            <a:off x="793699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risk scoring (0–100)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80960" y="422452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9" name="Text 27"/>
          <p:cNvSpPr/>
          <p:nvPr/>
        </p:nvSpPr>
        <p:spPr>
          <a:xfrm>
            <a:off x="7936992" y="4133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incidents &amp; inter-agency tasking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680960" y="477316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31" name="Text 29"/>
          <p:cNvSpPr/>
          <p:nvPr/>
        </p:nvSpPr>
        <p:spPr>
          <a:xfrm>
            <a:off x="7936992" y="4681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replay &amp; situation reports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580644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live feeds where available, with a high-fidelity simulation mode for training and demonstration — switchable in one click.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1 — SITUATIONAL AWARENESS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common operating picture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57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vessel tracking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4203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cooperative contact plotted live on the Gulf of Guinea, updating continuously with course, speed and heading.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57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at a glance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54203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/ allied naval units, known commercial traffic, unidentified and flagged contacts — colour-coded on the map.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023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&amp; filter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5079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any vessel by name or MMSI; filter by type, flag or classification; isolate flagged contacts instantly.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4023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basemaps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92240" y="45079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tactical, satellite imagery and nautical ocean charts — switch to match the task.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2 — THE HEADLINE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Dark-vessel detection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Vessels that go “dark” — switching off AIS to evade detection — are the hardest and most important to catch. SeaWatch flags them automatically using five behavioural detectors.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588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 Gap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Transponder switched off at sea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8892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9864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Spoofing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Falsified or impossible GPS position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0644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7" name="Text 15"/>
          <p:cNvSpPr/>
          <p:nvPr/>
        </p:nvSpPr>
        <p:spPr>
          <a:xfrm>
            <a:off x="58064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3892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Loitering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9379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drift inside a sensitive zone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6948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7920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Ship-to-Ship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407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Covert offshore rendezvous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0976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28700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02870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1948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 Breach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7435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Incursion into a restricted area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raises a graded alert and feeds the vessel’s risk score — turning raw tracks into prioritised, actionable intelligence.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2 — DETAIL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&amp; anomaly alerts — trigger parameters</a:t>
            </a:r>
            <a:endParaRPr lang="en-US" sz="3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133648"/>
              </p:ext>
            </p:extLst>
          </p:nvPr>
        </p:nvGraphicFramePr>
        <p:xfrm>
          <a:off x="548640" y="1783080"/>
          <a:ext cx="11091672" cy="39319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2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Triggered when…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 Gap (going dark)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AIS transmission for more than 6 hours while at sea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0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→ High (&gt;12h)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Spoofing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Implausible position jumps / &gt;45 kn implied speed — falsified GPS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Loitering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below 1.2 kn for over 25 min inside a sensitive zone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0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→ High (oil field)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Restricted-Zone Incursion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Trawler/large vessel in artisanal zone; any non-support vessel in an oil-field safety zone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0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→ 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Ship-to-Ship (STS)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slow </a:t>
                      </a:r>
                      <a:r>
                        <a:rPr lang="en-US" sz="1150" dirty="0" smtClean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(&lt;1.2 </a:t>
                      </a: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kn) vessels </a:t>
                      </a:r>
                      <a:r>
                        <a:rPr lang="en-US" sz="115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</a:t>
                      </a:r>
                      <a:r>
                        <a:rPr lang="en-US" sz="1150" smtClean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</a:t>
                      </a: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 offshore, outside a designated anchorage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Non-Cooperative 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Radar / satellite contact with no matching AIS (sensor-fusion gap)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thresholds are configurable to Ghana Navy doctrine. Detections also drive the vessel risk score on the next slide.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2 — PRIORITISATION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contact gets a risk score (0–100)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detections combine into a single, sortable risk score so the watch focuses on the contacts that matter most.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77840" cy="3474720"/>
          </a:xfrm>
          <a:prstGeom prst="roundRect">
            <a:avLst>
              <a:gd name="adj" fmla="val 236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423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RAISES A SCORE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852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spoofing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0" y="28529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3009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Ship-to-ship rendezvous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0" y="33009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749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gap (going dark)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0" y="37490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1970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Restricted-zone breach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4197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645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Loitering in sensitive zone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0" y="46451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093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/ flag-of-convenience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0" y="509320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2423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BANDS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92240" y="2852928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FBE4E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20840" y="2999232"/>
            <a:ext cx="274320" cy="2743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0" y="2852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0" y="28529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– 100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3529584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FCEFD9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20840" y="3675888"/>
            <a:ext cx="274320" cy="274320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35295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0" y="35295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0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– 69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92240" y="4206240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FFF6D6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20840" y="4352544"/>
            <a:ext cx="274320" cy="274320"/>
          </a:xfrm>
          <a:prstGeom prst="ellipse">
            <a:avLst/>
          </a:prstGeom>
          <a:solidFill>
            <a:srgbClr val="B58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0" y="42062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0" y="4206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– 44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92240" y="4882896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E7F3EC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720840" y="5029200"/>
            <a:ext cx="274320" cy="274320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0" y="48828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144000" y="48828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19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B7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3 — INTER-AGENCY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Maritime Operations Centres, working as one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 connects Ghana Navy commands with partner agencies on a shared picture — every centre sees, shares and acts together in real time.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COMMANDS &amp; PARTNER AGENCIES ON ONE SHARED PICTURE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697480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NHQ MOC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48716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2697480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11" name="Text 9"/>
          <p:cNvSpPr/>
          <p:nvPr/>
        </p:nvSpPr>
        <p:spPr>
          <a:xfrm>
            <a:off x="4864608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Naval Cmd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48716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697480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14" name="Text 12"/>
          <p:cNvSpPr/>
          <p:nvPr/>
        </p:nvSpPr>
        <p:spPr>
          <a:xfrm>
            <a:off x="8613648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 Naval Cmd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6382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374136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316382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Keta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0" y="316382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53712" y="3374136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64608" y="316382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Ezinlibo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046720" y="316382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302752" y="3374136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23" name="Text 21"/>
          <p:cNvSpPr/>
          <p:nvPr/>
        </p:nvSpPr>
        <p:spPr>
          <a:xfrm>
            <a:off x="8613648" y="316382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MMCC Zone F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8404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0F7F1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050792"/>
            <a:ext cx="164592" cy="164592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6" name="Text 24"/>
          <p:cNvSpPr/>
          <p:nvPr/>
        </p:nvSpPr>
        <p:spPr>
          <a:xfrm>
            <a:off x="1115568" y="38404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VTMIS (GMA)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8404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0F7F1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050792"/>
            <a:ext cx="164592" cy="164592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9" name="Text 27"/>
          <p:cNvSpPr/>
          <p:nvPr/>
        </p:nvSpPr>
        <p:spPr>
          <a:xfrm>
            <a:off x="4864608" y="38404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MRCC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046720" y="38404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0F7F1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02752" y="4050792"/>
            <a:ext cx="164592" cy="164592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32" name="Text 30"/>
          <p:cNvSpPr/>
          <p:nvPr/>
        </p:nvSpPr>
        <p:spPr>
          <a:xfrm>
            <a:off x="8613648" y="38404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Fisheries MCC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736592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FF6D6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22960" y="48828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incidents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22960" y="52669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once; the institutions you choose are notified instantly.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297680" y="4736592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FF6D6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572000" y="48828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discussion threads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4572000" y="52669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&amp; react on each incident in a continuous chat — a shared ops room.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46720" y="4736592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FF6D6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321040" y="48828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Tasking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8321040" y="52669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assets to investigate a contact and track status to completion.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B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4 — GEOFENCING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Maritime zones &amp; areas of interest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21408"/>
            <a:ext cx="310896" cy="310896"/>
          </a:xfrm>
          <a:prstGeom prst="ellipse">
            <a:avLst/>
          </a:prstGeom>
          <a:solidFill>
            <a:srgbClr val="B58A00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0482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Ghana EEZ &amp; Territorial Sea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NM economic zone and 12 NM sovereign waters delineated and monitored.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64808" y="2121408"/>
            <a:ext cx="310896" cy="310896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20482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Offshore oil fields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Jubilee, TEN and Sankofa safety zones with incursion alerting around FPSOs.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4087368"/>
            <a:ext cx="310896" cy="31089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4014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Fishing grounds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6868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Inshore artisanal zone protected from trawler incursion (IUU detection).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64808" y="4087368"/>
            <a:ext cx="310896" cy="310896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4014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Areas of Interest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Piracy / armed-robbery watch boxes and IUU hotspots, fully configurable.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tools measure distance &amp; bearing, drop range rings, and draw search areas — directly on the live picture.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5 — GOVERNANCE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structure, access &amp; accountability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FF6D6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2140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0" y="212140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command &amp; administration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8346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Deputy Director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&amp; audit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547872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35478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in Charge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354787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command &amp; audit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261104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2611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8960" y="426110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alerts, task assets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974336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97433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Watchkeeper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08960" y="497433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acknowledge, report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0" y="1783080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75120" y="19019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Vetted onboarding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675120" y="22128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are held pending administrator approval before any access is granted.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2807208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7512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 dashboard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675120" y="323697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modify, disable or remove accounts and assign roles &amp; commands.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3831336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675120" y="39502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audit trail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675120" y="426110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sign-in, alert action, incident and tasking is logged and attributable.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0" y="4855464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75120" y="497433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&amp; secure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675120" y="5285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records stored in a managed database; access is encrypted end-to-end.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6 — DECISION SUPPORT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Replay, reporting &amp; command tools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blurRad="76200" dist="25400" dir="5400000" algn="bl" rotWithShape="0">
              <a:srgbClr val="0A1626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replay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670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 or play back the last hours of the picture to reconstruct an event or brief command.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212140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blurRad="76200" dist="25400" dir="5400000" algn="bl" rotWithShape="0">
              <a:srgbClr val="0A162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Printable SITREPs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2670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Maritime Situation Report — current picture, dark contacts, alerts and incidents.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04164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blurRad="76200" dist="25400" dir="5400000" algn="bl" rotWithShape="0">
              <a:srgbClr val="0A1626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⇄ Simulation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5902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live feeds and a realistic training simulation in a single click.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04164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blurRad="76200" dist="25400" dir="5400000" algn="bl" rotWithShape="0">
              <a:srgbClr val="0A1626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64808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analysis tools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92240" y="45902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&amp; bearing, range rings, and area drawing for planning and search.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Secure, always-on, accessible anywhere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Web-based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1828800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installation. Runs in any modern browser on the workstation, laptop or tablet.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81635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281635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Cloud-hosted and persistent — operating around the clock, independent of any single machine.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80390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EAF1F8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803904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3803904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(HTTPS), role-gated, with vetted onboarding and full audit logging.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91456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79145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Sovereign-ready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4791456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deployed on Ghana Navy infrastructure or a national sovereign cloud.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for stakeholder testing today — accounts are approved by the administrator before access.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GHANA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Tailored to the Ghana Navy &amp; the Yaoundé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5328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Ghana Navy command structure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04495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NHQ MOC, Western &amp; Eastern Naval Commands and Forward Operating Bases built 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233172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5328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Yaoundé Architecture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304495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MMCC Zone F (Accra) and regional information-sharing for Gulf of Guinea security.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2245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maritime geography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73659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EEZ, territorial sea, Jubilee / TEN / Sankofa oil fields and fishing grounds.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402336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42245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Inter-agency by design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473659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Maritime Authority VTMIS, MRCC and Fisheries Commission as collaborators.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B7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to an operational system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0B7A3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picture, dark-vessel detection, collaboration, roles &amp; audit — live and demonstrable.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54680" y="2468880"/>
            <a:ext cx="182880" cy="0"/>
          </a:xfrm>
          <a:prstGeom prst="line">
            <a:avLst/>
          </a:prstGeom>
          <a:noFill/>
          <a:ln w="19050">
            <a:solidFill>
              <a:srgbClr val="B7C6D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3756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2E6FB0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term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016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live regional AIS (terrestrial + satellite), coastal radar and VMS feeds.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0" y="2468880"/>
            <a:ext cx="182880" cy="0"/>
          </a:xfrm>
          <a:prstGeom prst="line">
            <a:avLst/>
          </a:prstGeom>
          <a:noFill/>
          <a:ln w="19050">
            <a:solidFill>
              <a:srgbClr val="B7C6D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B58A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 term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tasking to image dark contacts; pattern-of-life analytics &amp; ML risk scoring.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732520" y="2468880"/>
            <a:ext cx="182880" cy="0"/>
          </a:xfrm>
          <a:prstGeom prst="line">
            <a:avLst/>
          </a:prstGeom>
          <a:noFill/>
          <a:ln w="19050">
            <a:solidFill>
              <a:srgbClr val="B7C6D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1540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blurRad="101600" dist="38100" dir="5400000" algn="bl" rotWithShape="0">
              <a:srgbClr val="0A162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C8102E"/>
          </a:solidFill>
          <a:ln/>
        </p:spPr>
      </p:sp>
      <p:sp>
        <p:nvSpPr>
          <p:cNvPr id="21" name="Text 19"/>
          <p:cNvSpPr/>
          <p:nvPr/>
        </p:nvSpPr>
        <p:spPr>
          <a:xfrm>
            <a:off x="918972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0800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sovereign deployment, military authentication, and Yaoundé data-sharing links.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968" y="1097280"/>
            <a:ext cx="1280160" cy="12252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1460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SeaWatch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914400" y="35204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 Domain Awareness for the Ghana Navy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4270248" y="4160520"/>
            <a:ext cx="365760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FE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 ·  Detect  ·  Collaborate  ·  Act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“Loyalty, Devotion and Excellence”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1569</Words>
  <Application>Microsoft Office PowerPoint</Application>
  <PresentationFormat>Widescreen</PresentationFormat>
  <Paragraphs>290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SeaWatch — Ghana Navy MDA Capabilities Brief</dc:title>
  <dc:subject>PptxGenJS Presentation</dc:subject>
  <dc:creator>SeaWatch</dc:creator>
  <cp:lastModifiedBy>safe</cp:lastModifiedBy>
  <cp:revision>2</cp:revision>
  <dcterms:created xsi:type="dcterms:W3CDTF">2026-06-30T21:12:36Z</dcterms:created>
  <dcterms:modified xsi:type="dcterms:W3CDTF">2026-07-05T22:13:16Z</dcterms:modified>
</cp:coreProperties>
</file>