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</p:sldIdLst>
  <p:notesMasterIdLst>
    <p:notesMasterId r:id="rId18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notesMaster" Target="notesMasters/notesMaster1.xml"/><Relationship Id="rId19" Type="http://schemas.openxmlformats.org/officeDocument/2006/relationships/presProps" Target="presProps.xml"/><Relationship Id="rId20" Type="http://schemas.openxmlformats.org/officeDocument/2006/relationships/viewProps" Target="viewProps.xml"/><Relationship Id="rId21" Type="http://schemas.openxmlformats.org/officeDocument/2006/relationships/theme" Target="theme/theme1.xml"/><Relationship Id="rId2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680960" y="-2377440"/>
            <a:ext cx="7315200" cy="7315200"/>
          </a:xfrm>
          <a:prstGeom prst="ellipse">
            <a:avLst/>
          </a:prstGeom>
          <a:solidFill>
            <a:srgbClr val="102338"/>
          </a:solidFill>
          <a:ln/>
        </p:spPr>
      </p:sp>
      <p:pic>
        <p:nvPicPr>
          <p:cNvPr id="3" name="Image 0" descr="cres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68680" y="1417320"/>
            <a:ext cx="1783080" cy="1709928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2880360" y="1508760"/>
            <a:ext cx="82296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SeaWatch</a:t>
            </a:r>
            <a:endParaRPr lang="en-US" sz="6000" dirty="0"/>
          </a:p>
        </p:txBody>
      </p:sp>
      <p:sp>
        <p:nvSpPr>
          <p:cNvPr id="5" name="Text 2"/>
          <p:cNvSpPr/>
          <p:nvPr/>
        </p:nvSpPr>
        <p:spPr>
          <a:xfrm>
            <a:off x="2926080" y="2670048"/>
            <a:ext cx="8595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spc="200" kern="0" dirty="0">
                <a:solidFill>
                  <a:srgbClr val="F2C2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GHANA NAVY  ·  MARITIME DOMAIN AWARENESS SYSTEM</a:t>
            </a:r>
            <a:endParaRPr lang="en-US" sz="1500" dirty="0"/>
          </a:p>
        </p:txBody>
      </p:sp>
      <p:sp>
        <p:nvSpPr>
          <p:cNvPr id="6" name="Shape 3"/>
          <p:cNvSpPr/>
          <p:nvPr/>
        </p:nvSpPr>
        <p:spPr>
          <a:xfrm>
            <a:off x="2944368" y="3246120"/>
            <a:ext cx="6583680" cy="0"/>
          </a:xfrm>
          <a:prstGeom prst="line">
            <a:avLst/>
          </a:prstGeom>
          <a:noFill/>
          <a:ln w="12700">
            <a:solidFill>
              <a:srgbClr val="24496E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2907792" y="3401568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i="1" dirty="0">
                <a:solidFill>
                  <a:srgbClr val="E8EEF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Capabilities Brief</a:t>
            </a:r>
            <a:endParaRPr lang="en-US" sz="2400" dirty="0"/>
          </a:p>
        </p:txBody>
      </p:sp>
      <p:sp>
        <p:nvSpPr>
          <p:cNvPr id="8" name="Text 5"/>
          <p:cNvSpPr/>
          <p:nvPr/>
        </p:nvSpPr>
        <p:spPr>
          <a:xfrm>
            <a:off x="2926080" y="397764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AEC2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Prepared for Higher Command</a:t>
            </a:r>
            <a:endParaRPr lang="en-US" sz="1400" dirty="0"/>
          </a:p>
        </p:txBody>
      </p:sp>
      <p:sp>
        <p:nvSpPr>
          <p:cNvPr id="9" name="Shape 6"/>
          <p:cNvSpPr/>
          <p:nvPr/>
        </p:nvSpPr>
        <p:spPr>
          <a:xfrm>
            <a:off x="868680" y="5760720"/>
            <a:ext cx="1463040" cy="457200"/>
          </a:xfrm>
          <a:prstGeom prst="roundRect">
            <a:avLst>
              <a:gd name="adj" fmla="val 50000"/>
            </a:avLst>
          </a:prstGeom>
          <a:solidFill>
            <a:srgbClr val="17324F"/>
          </a:solidFill>
          <a:ln/>
        </p:spPr>
      </p:sp>
      <p:sp>
        <p:nvSpPr>
          <p:cNvPr id="10" name="Text 7"/>
          <p:cNvSpPr/>
          <p:nvPr/>
        </p:nvSpPr>
        <p:spPr>
          <a:xfrm>
            <a:off x="868680" y="576072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FE0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Loyalty</a:t>
            </a:r>
            <a:endParaRPr lang="en-US" sz="1200" dirty="0"/>
          </a:p>
        </p:txBody>
      </p:sp>
      <p:sp>
        <p:nvSpPr>
          <p:cNvPr id="11" name="Shape 8"/>
          <p:cNvSpPr/>
          <p:nvPr/>
        </p:nvSpPr>
        <p:spPr>
          <a:xfrm>
            <a:off x="2468880" y="5760720"/>
            <a:ext cx="1463040" cy="457200"/>
          </a:xfrm>
          <a:prstGeom prst="roundRect">
            <a:avLst>
              <a:gd name="adj" fmla="val 50000"/>
            </a:avLst>
          </a:prstGeom>
          <a:solidFill>
            <a:srgbClr val="17324F"/>
          </a:solidFill>
          <a:ln/>
        </p:spPr>
      </p:sp>
      <p:sp>
        <p:nvSpPr>
          <p:cNvPr id="12" name="Text 9"/>
          <p:cNvSpPr/>
          <p:nvPr/>
        </p:nvSpPr>
        <p:spPr>
          <a:xfrm>
            <a:off x="2468880" y="576072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FE0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Devotion</a:t>
            </a:r>
            <a:endParaRPr lang="en-US" sz="1200" dirty="0"/>
          </a:p>
        </p:txBody>
      </p:sp>
      <p:sp>
        <p:nvSpPr>
          <p:cNvPr id="13" name="Shape 10"/>
          <p:cNvSpPr/>
          <p:nvPr/>
        </p:nvSpPr>
        <p:spPr>
          <a:xfrm>
            <a:off x="4069080" y="5760720"/>
            <a:ext cx="1463040" cy="457200"/>
          </a:xfrm>
          <a:prstGeom prst="roundRect">
            <a:avLst>
              <a:gd name="adj" fmla="val 50000"/>
            </a:avLst>
          </a:prstGeom>
          <a:solidFill>
            <a:srgbClr val="17324F"/>
          </a:solidFill>
          <a:ln/>
        </p:spPr>
      </p:sp>
      <p:sp>
        <p:nvSpPr>
          <p:cNvPr id="14" name="Text 11"/>
          <p:cNvSpPr/>
          <p:nvPr/>
        </p:nvSpPr>
        <p:spPr>
          <a:xfrm>
            <a:off x="4069080" y="576072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FE0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Excellence</a:t>
            </a:r>
            <a:endParaRPr lang="en-US" sz="1200" dirty="0"/>
          </a:p>
        </p:txBody>
      </p:sp>
      <p:sp>
        <p:nvSpPr>
          <p:cNvPr id="15" name="Text 12"/>
          <p:cNvSpPr/>
          <p:nvPr/>
        </p:nvSpPr>
        <p:spPr>
          <a:xfrm>
            <a:off x="5989320" y="5715000"/>
            <a:ext cx="56692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50" dirty="0">
                <a:solidFill>
                  <a:srgbClr val="AEC2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maritime domain awareness platform for vessel tracking, dark-vessel detection,</a:t>
            </a:r>
            <a:endParaRPr lang="en-US" sz="1150" dirty="0"/>
          </a:p>
          <a:p>
            <a:pPr algn="r" indent="0" marL="0">
              <a:buNone/>
            </a:pPr>
            <a:r>
              <a:rPr lang="en-US" sz="1150" dirty="0">
                <a:solidFill>
                  <a:srgbClr val="AEC2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inter-agency collaboration and threat alerting across Ghana’s waters and the Gulf of Guinea.</a:t>
            </a:r>
            <a:endParaRPr lang="en-US" sz="11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200" kern="0" dirty="0">
                <a:solidFill>
                  <a:srgbClr val="C810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OPERATING ENVIRONMENT</a:t>
            </a:r>
            <a:endParaRPr lang="en-US" sz="1250" dirty="0"/>
          </a:p>
        </p:txBody>
      </p:sp>
      <p:sp>
        <p:nvSpPr>
          <p:cNvPr id="3" name="Text 1"/>
          <p:cNvSpPr/>
          <p:nvPr/>
        </p:nvSpPr>
        <p:spPr>
          <a:xfrm>
            <a:off x="548640" y="749808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100" b="1" dirty="0">
                <a:solidFill>
                  <a:srgbClr val="1326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Gulf of Guinea is a contested maritime domain</a:t>
            </a:r>
            <a:endParaRPr lang="en-US" sz="3100" dirty="0"/>
          </a:p>
        </p:txBody>
      </p:sp>
      <p:sp>
        <p:nvSpPr>
          <p:cNvPr id="4" name="Shape 2"/>
          <p:cNvSpPr/>
          <p:nvPr/>
        </p:nvSpPr>
        <p:spPr>
          <a:xfrm>
            <a:off x="548640" y="1783080"/>
            <a:ext cx="2148840" cy="1508760"/>
          </a:xfrm>
          <a:prstGeom prst="roundRect">
            <a:avLst>
              <a:gd name="adj" fmla="val 5455"/>
            </a:avLst>
          </a:prstGeom>
          <a:solidFill>
            <a:srgbClr val="F3F7FB"/>
          </a:solidFill>
          <a:ln/>
          <a:effectLst>
            <a:outerShdw sx="100000" sy="100000" kx="0" ky="0" algn="bl" rotWithShape="0" blurRad="101600" dist="38100" dir="5400000">
              <a:srgbClr val="0A1626">
                <a:alpha val="10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548640" y="1938528"/>
            <a:ext cx="2148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2E6FB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~6,000</a:t>
            </a:r>
            <a:endParaRPr lang="en-US" sz="3400" dirty="0"/>
          </a:p>
        </p:txBody>
      </p:sp>
      <p:sp>
        <p:nvSpPr>
          <p:cNvPr id="6" name="Text 4"/>
          <p:cNvSpPr/>
          <p:nvPr/>
        </p:nvSpPr>
        <p:spPr>
          <a:xfrm>
            <a:off x="685800" y="2578608"/>
            <a:ext cx="18745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C6E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vessels transit the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5C6E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Gulf of Guinea region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2880360" y="1783080"/>
            <a:ext cx="2148840" cy="1508760"/>
          </a:xfrm>
          <a:prstGeom prst="roundRect">
            <a:avLst>
              <a:gd name="adj" fmla="val 5455"/>
            </a:avLst>
          </a:prstGeom>
          <a:solidFill>
            <a:srgbClr val="F3F7FB"/>
          </a:solidFill>
          <a:ln/>
          <a:effectLst>
            <a:outerShdw sx="100000" sy="100000" kx="0" ky="0" algn="bl" rotWithShape="0" blurRad="101600" dist="38100" dir="5400000">
              <a:srgbClr val="0A1626">
                <a:alpha val="10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2880360" y="1938528"/>
            <a:ext cx="2148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0B7A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200 NM</a:t>
            </a:r>
            <a:endParaRPr lang="en-US" sz="3400" dirty="0"/>
          </a:p>
        </p:txBody>
      </p:sp>
      <p:sp>
        <p:nvSpPr>
          <p:cNvPr id="9" name="Text 7"/>
          <p:cNvSpPr/>
          <p:nvPr/>
        </p:nvSpPr>
        <p:spPr>
          <a:xfrm>
            <a:off x="3017520" y="2578608"/>
            <a:ext cx="18745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C6E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Exclusive Economic Zone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5C6E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monitor &amp; protect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5212080" y="1783080"/>
            <a:ext cx="2148840" cy="1508760"/>
          </a:xfrm>
          <a:prstGeom prst="roundRect">
            <a:avLst>
              <a:gd name="adj" fmla="val 5455"/>
            </a:avLst>
          </a:prstGeom>
          <a:solidFill>
            <a:srgbClr val="F3F7FB"/>
          </a:solidFill>
          <a:ln/>
          <a:effectLst>
            <a:outerShdw sx="100000" sy="100000" kx="0" ky="0" algn="bl" rotWithShape="0" blurRad="101600" dist="38100" dir="5400000">
              <a:srgbClr val="0A1626">
                <a:alpha val="10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5212080" y="1938528"/>
            <a:ext cx="2148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B58A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3400" dirty="0"/>
          </a:p>
        </p:txBody>
      </p:sp>
      <p:sp>
        <p:nvSpPr>
          <p:cNvPr id="12" name="Text 10"/>
          <p:cNvSpPr/>
          <p:nvPr/>
        </p:nvSpPr>
        <p:spPr>
          <a:xfrm>
            <a:off x="5349240" y="2578608"/>
            <a:ext cx="18745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C6E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offshore oil fields —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5C6E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Jubilee · TEN · Sankofa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7680960" y="1783080"/>
            <a:ext cx="3959352" cy="4114800"/>
          </a:xfrm>
          <a:prstGeom prst="roundRect">
            <a:avLst>
              <a:gd name="adj" fmla="val 2079"/>
            </a:avLst>
          </a:prstGeom>
          <a:solidFill>
            <a:srgbClr val="0A1A2E"/>
          </a:solidFill>
          <a:ln/>
          <a:effectLst>
            <a:outerShdw sx="100000" sy="100000" kx="0" ky="0" algn="bl" rotWithShape="0" blurRad="101600" dist="38100" dir="5400000">
              <a:srgbClr val="0A1626">
                <a:alpha val="10000"/>
              </a:srgbClr>
            </a:outerShdw>
          </a:effectLst>
        </p:spPr>
      </p:sp>
      <p:sp>
        <p:nvSpPr>
          <p:cNvPr id="14" name="Text 12"/>
          <p:cNvSpPr/>
          <p:nvPr/>
        </p:nvSpPr>
        <p:spPr>
          <a:xfrm>
            <a:off x="7955280" y="1965960"/>
            <a:ext cx="3474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150" kern="0" dirty="0">
                <a:solidFill>
                  <a:srgbClr val="F2C2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PERSISTENT THREATS</a:t>
            </a:r>
            <a:endParaRPr lang="en-US" sz="1250" dirty="0"/>
          </a:p>
        </p:txBody>
      </p:sp>
      <p:sp>
        <p:nvSpPr>
          <p:cNvPr id="15" name="Shape 13"/>
          <p:cNvSpPr/>
          <p:nvPr/>
        </p:nvSpPr>
        <p:spPr>
          <a:xfrm>
            <a:off x="7973568" y="2523744"/>
            <a:ext cx="128016" cy="128016"/>
          </a:xfrm>
          <a:prstGeom prst="ellipse">
            <a:avLst/>
          </a:prstGeom>
          <a:solidFill>
            <a:srgbClr val="F2C200"/>
          </a:solidFill>
          <a:ln/>
        </p:spPr>
      </p:sp>
      <p:sp>
        <p:nvSpPr>
          <p:cNvPr id="16" name="Text 14"/>
          <p:cNvSpPr/>
          <p:nvPr/>
        </p:nvSpPr>
        <p:spPr>
          <a:xfrm>
            <a:off x="8229600" y="242316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Piracy &amp; armed robbery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8229600" y="2670048"/>
            <a:ext cx="3291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A9BF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kidnap-for-ransom, hijack at sea</a:t>
            </a:r>
            <a:endParaRPr lang="en-US" sz="1050" dirty="0"/>
          </a:p>
        </p:txBody>
      </p:sp>
      <p:sp>
        <p:nvSpPr>
          <p:cNvPr id="18" name="Shape 16"/>
          <p:cNvSpPr/>
          <p:nvPr/>
        </p:nvSpPr>
        <p:spPr>
          <a:xfrm>
            <a:off x="7973568" y="3200400"/>
            <a:ext cx="128016" cy="128016"/>
          </a:xfrm>
          <a:prstGeom prst="ellipse">
            <a:avLst/>
          </a:prstGeom>
          <a:solidFill>
            <a:srgbClr val="F2C200"/>
          </a:solidFill>
          <a:ln/>
        </p:spPr>
      </p:sp>
      <p:sp>
        <p:nvSpPr>
          <p:cNvPr id="19" name="Text 17"/>
          <p:cNvSpPr/>
          <p:nvPr/>
        </p:nvSpPr>
        <p:spPr>
          <a:xfrm>
            <a:off x="8229600" y="3099816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IUU fishing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8229600" y="3346704"/>
            <a:ext cx="3291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A9BF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illegal, unreported &amp; unregulated catch</a:t>
            </a:r>
            <a:endParaRPr lang="en-US" sz="1050" dirty="0"/>
          </a:p>
        </p:txBody>
      </p:sp>
      <p:sp>
        <p:nvSpPr>
          <p:cNvPr id="21" name="Shape 19"/>
          <p:cNvSpPr/>
          <p:nvPr/>
        </p:nvSpPr>
        <p:spPr>
          <a:xfrm>
            <a:off x="7973568" y="3877056"/>
            <a:ext cx="128016" cy="128016"/>
          </a:xfrm>
          <a:prstGeom prst="ellipse">
            <a:avLst/>
          </a:prstGeom>
          <a:solidFill>
            <a:srgbClr val="F2C200"/>
          </a:solidFill>
          <a:ln/>
        </p:spPr>
      </p:sp>
      <p:sp>
        <p:nvSpPr>
          <p:cNvPr id="22" name="Text 20"/>
          <p:cNvSpPr/>
          <p:nvPr/>
        </p:nvSpPr>
        <p:spPr>
          <a:xfrm>
            <a:off x="8229600" y="3776472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Smuggling &amp; trafficking</a:t>
            </a:r>
            <a:endParaRPr lang="en-US" sz="1300" dirty="0"/>
          </a:p>
        </p:txBody>
      </p:sp>
      <p:sp>
        <p:nvSpPr>
          <p:cNvPr id="23" name="Text 21"/>
          <p:cNvSpPr/>
          <p:nvPr/>
        </p:nvSpPr>
        <p:spPr>
          <a:xfrm>
            <a:off x="8229600" y="4023360"/>
            <a:ext cx="3291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A9BF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narcotics, arms, fuel, persons</a:t>
            </a:r>
            <a:endParaRPr lang="en-US" sz="1050" dirty="0"/>
          </a:p>
        </p:txBody>
      </p:sp>
      <p:sp>
        <p:nvSpPr>
          <p:cNvPr id="24" name="Shape 22"/>
          <p:cNvSpPr/>
          <p:nvPr/>
        </p:nvSpPr>
        <p:spPr>
          <a:xfrm>
            <a:off x="7973568" y="4553712"/>
            <a:ext cx="128016" cy="128016"/>
          </a:xfrm>
          <a:prstGeom prst="ellipse">
            <a:avLst/>
          </a:prstGeom>
          <a:solidFill>
            <a:srgbClr val="F2C200"/>
          </a:solidFill>
          <a:ln/>
        </p:spPr>
      </p:sp>
      <p:sp>
        <p:nvSpPr>
          <p:cNvPr id="25" name="Text 23"/>
          <p:cNvSpPr/>
          <p:nvPr/>
        </p:nvSpPr>
        <p:spPr>
          <a:xfrm>
            <a:off x="8229600" y="4453128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Dark vessels</a:t>
            </a:r>
            <a:endParaRPr lang="en-US" sz="1300" dirty="0"/>
          </a:p>
        </p:txBody>
      </p:sp>
      <p:sp>
        <p:nvSpPr>
          <p:cNvPr id="26" name="Text 24"/>
          <p:cNvSpPr/>
          <p:nvPr/>
        </p:nvSpPr>
        <p:spPr>
          <a:xfrm>
            <a:off x="8229600" y="4700016"/>
            <a:ext cx="3291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A9BF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AIS switched off to evade detection</a:t>
            </a:r>
            <a:endParaRPr lang="en-US" sz="1050" dirty="0"/>
          </a:p>
        </p:txBody>
      </p:sp>
      <p:sp>
        <p:nvSpPr>
          <p:cNvPr id="27" name="Shape 25"/>
          <p:cNvSpPr/>
          <p:nvPr/>
        </p:nvSpPr>
        <p:spPr>
          <a:xfrm>
            <a:off x="7973568" y="5230368"/>
            <a:ext cx="128016" cy="128016"/>
          </a:xfrm>
          <a:prstGeom prst="ellipse">
            <a:avLst/>
          </a:prstGeom>
          <a:solidFill>
            <a:srgbClr val="F2C200"/>
          </a:solidFill>
          <a:ln/>
        </p:spPr>
      </p:sp>
      <p:sp>
        <p:nvSpPr>
          <p:cNvPr id="28" name="Text 26"/>
          <p:cNvSpPr/>
          <p:nvPr/>
        </p:nvSpPr>
        <p:spPr>
          <a:xfrm>
            <a:off x="8229600" y="5129784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Oil-infrastructure risk</a:t>
            </a:r>
            <a:endParaRPr lang="en-US" sz="1300" dirty="0"/>
          </a:p>
        </p:txBody>
      </p:sp>
      <p:sp>
        <p:nvSpPr>
          <p:cNvPr id="29" name="Text 27"/>
          <p:cNvSpPr/>
          <p:nvPr/>
        </p:nvSpPr>
        <p:spPr>
          <a:xfrm>
            <a:off x="8229600" y="5376672"/>
            <a:ext cx="3291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A9BF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incursions near FPSOs &amp; platforms</a:t>
            </a:r>
            <a:endParaRPr lang="en-US" sz="1050" dirty="0"/>
          </a:p>
        </p:txBody>
      </p:sp>
      <p:sp>
        <p:nvSpPr>
          <p:cNvPr id="30" name="Text 28"/>
          <p:cNvSpPr/>
          <p:nvPr/>
        </p:nvSpPr>
        <p:spPr>
          <a:xfrm>
            <a:off x="548640" y="3703320"/>
            <a:ext cx="69037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i="1" dirty="0">
                <a:solidFill>
                  <a:srgbClr val="1326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Sea blindness — gaps in the maritime picture — lets these threats operate undetected. SeaWatch closes that gap.</a:t>
            </a:r>
            <a:endParaRPr lang="en-US" sz="1500" dirty="0"/>
          </a:p>
        </p:txBody>
      </p:sp>
      <p:sp>
        <p:nvSpPr>
          <p:cNvPr id="31" name="Text 29"/>
          <p:cNvSpPr/>
          <p:nvPr/>
        </p:nvSpPr>
        <p:spPr>
          <a:xfrm>
            <a:off x="54864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326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SeaWatch</a:t>
            </a:r>
            <a:pPr indent="0" marL="0">
              <a:buNone/>
            </a:pPr>
            <a:r>
              <a:rPr lang="en-US" sz="900" dirty="0">
                <a:solidFill>
                  <a:srgbClr val="5C6E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Ghana Navy Maritime Domain Awareness</a:t>
            </a:r>
            <a:endParaRPr lang="en-US" sz="900" dirty="0"/>
          </a:p>
        </p:txBody>
      </p:sp>
      <p:sp>
        <p:nvSpPr>
          <p:cNvPr id="32" name="Text 30"/>
          <p:cNvSpPr/>
          <p:nvPr/>
        </p:nvSpPr>
        <p:spPr>
          <a:xfrm>
            <a:off x="11277295" y="6473952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C6E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200" kern="0" dirty="0">
                <a:solidFill>
                  <a:srgbClr val="0B7A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SEAWATCH DELIVERS</a:t>
            </a:r>
            <a:endParaRPr lang="en-US" sz="1250" dirty="0"/>
          </a:p>
        </p:txBody>
      </p:sp>
      <p:sp>
        <p:nvSpPr>
          <p:cNvPr id="3" name="Text 1"/>
          <p:cNvSpPr/>
          <p:nvPr/>
        </p:nvSpPr>
        <p:spPr>
          <a:xfrm>
            <a:off x="548640" y="749808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100" b="1" dirty="0">
                <a:solidFill>
                  <a:srgbClr val="1326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One screen. The whole maritime picture.</a:t>
            </a:r>
            <a:endParaRPr lang="en-US" sz="3100" dirty="0"/>
          </a:p>
        </p:txBody>
      </p:sp>
      <p:sp>
        <p:nvSpPr>
          <p:cNvPr id="4" name="Text 2"/>
          <p:cNvSpPr/>
          <p:nvPr/>
        </p:nvSpPr>
        <p:spPr>
          <a:xfrm>
            <a:off x="548640" y="1572768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C6E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live, web-based common operating picture that fuses vessel tracking, automated threat detection and inter-agency collaboration — accessible from any Maritime Operations Centre.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548640" y="2468880"/>
            <a:ext cx="2606040" cy="3200400"/>
          </a:xfrm>
          <a:prstGeom prst="roundRect">
            <a:avLst>
              <a:gd name="adj" fmla="val 3158"/>
            </a:avLst>
          </a:prstGeom>
          <a:solidFill>
            <a:srgbClr val="F3F7FB"/>
          </a:solidFill>
          <a:ln/>
          <a:effectLst>
            <a:outerShdw sx="100000" sy="100000" kx="0" ky="0" algn="bl" rotWithShape="0" blurRad="101600" dist="38100" dir="5400000">
              <a:srgbClr val="0A1626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822960" y="2724912"/>
            <a:ext cx="566928" cy="566928"/>
          </a:xfrm>
          <a:prstGeom prst="ellipse">
            <a:avLst/>
          </a:prstGeom>
          <a:solidFill>
            <a:srgbClr val="2E6FB0"/>
          </a:solidFill>
          <a:ln/>
        </p:spPr>
      </p:sp>
      <p:sp>
        <p:nvSpPr>
          <p:cNvPr id="7" name="Text 5"/>
          <p:cNvSpPr/>
          <p:nvPr/>
        </p:nvSpPr>
        <p:spPr>
          <a:xfrm>
            <a:off x="822960" y="2724912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2200" dirty="0"/>
          </a:p>
        </p:txBody>
      </p:sp>
      <p:sp>
        <p:nvSpPr>
          <p:cNvPr id="8" name="Text 6"/>
          <p:cNvSpPr/>
          <p:nvPr/>
        </p:nvSpPr>
        <p:spPr>
          <a:xfrm>
            <a:off x="822960" y="3456432"/>
            <a:ext cx="2103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1326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See</a:t>
            </a:r>
            <a:endParaRPr lang="en-US" sz="2100" dirty="0"/>
          </a:p>
        </p:txBody>
      </p:sp>
      <p:sp>
        <p:nvSpPr>
          <p:cNvPr id="9" name="Text 7"/>
          <p:cNvSpPr/>
          <p:nvPr/>
        </p:nvSpPr>
        <p:spPr>
          <a:xfrm>
            <a:off x="822960" y="3977640"/>
            <a:ext cx="2084832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C6E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 common operating picture of every cooperative contact across the EEZ and Gulf of Guinea.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3337560" y="2468880"/>
            <a:ext cx="2606040" cy="3200400"/>
          </a:xfrm>
          <a:prstGeom prst="roundRect">
            <a:avLst>
              <a:gd name="adj" fmla="val 3158"/>
            </a:avLst>
          </a:prstGeom>
          <a:solidFill>
            <a:srgbClr val="F3F7FB"/>
          </a:solidFill>
          <a:ln/>
          <a:effectLst>
            <a:outerShdw sx="100000" sy="100000" kx="0" ky="0" algn="bl" rotWithShape="0" blurRad="101600" dist="38100" dir="5400000">
              <a:srgbClr val="0A1626">
                <a:alpha val="10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3611880" y="2724912"/>
            <a:ext cx="566928" cy="566928"/>
          </a:xfrm>
          <a:prstGeom prst="ellipse">
            <a:avLst/>
          </a:prstGeom>
          <a:solidFill>
            <a:srgbClr val="C8102E"/>
          </a:solidFill>
          <a:ln/>
        </p:spPr>
      </p:sp>
      <p:sp>
        <p:nvSpPr>
          <p:cNvPr id="12" name="Text 10"/>
          <p:cNvSpPr/>
          <p:nvPr/>
        </p:nvSpPr>
        <p:spPr>
          <a:xfrm>
            <a:off x="3611880" y="2724912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2200" dirty="0"/>
          </a:p>
        </p:txBody>
      </p:sp>
      <p:sp>
        <p:nvSpPr>
          <p:cNvPr id="13" name="Text 11"/>
          <p:cNvSpPr/>
          <p:nvPr/>
        </p:nvSpPr>
        <p:spPr>
          <a:xfrm>
            <a:off x="3611880" y="3456432"/>
            <a:ext cx="2103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1326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Detect</a:t>
            </a:r>
            <a:endParaRPr lang="en-US" sz="2100" dirty="0"/>
          </a:p>
        </p:txBody>
      </p:sp>
      <p:sp>
        <p:nvSpPr>
          <p:cNvPr id="14" name="Text 12"/>
          <p:cNvSpPr/>
          <p:nvPr/>
        </p:nvSpPr>
        <p:spPr>
          <a:xfrm>
            <a:off x="3611880" y="3977640"/>
            <a:ext cx="2084832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C6E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Automated dark-vessel detection and threat alerts — AIS gaps, spoofing, loitering, STS, zone breaches.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6126480" y="2468880"/>
            <a:ext cx="2606040" cy="3200400"/>
          </a:xfrm>
          <a:prstGeom prst="roundRect">
            <a:avLst>
              <a:gd name="adj" fmla="val 3158"/>
            </a:avLst>
          </a:prstGeom>
          <a:solidFill>
            <a:srgbClr val="F3F7FB"/>
          </a:solidFill>
          <a:ln/>
          <a:effectLst>
            <a:outerShdw sx="100000" sy="100000" kx="0" ky="0" algn="bl" rotWithShape="0" blurRad="101600" dist="38100" dir="5400000">
              <a:srgbClr val="0A1626">
                <a:alpha val="10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6400800" y="2724912"/>
            <a:ext cx="566928" cy="566928"/>
          </a:xfrm>
          <a:prstGeom prst="ellipse">
            <a:avLst/>
          </a:prstGeom>
          <a:solidFill>
            <a:srgbClr val="B58A00"/>
          </a:solidFill>
          <a:ln/>
        </p:spPr>
      </p:sp>
      <p:sp>
        <p:nvSpPr>
          <p:cNvPr id="17" name="Text 15"/>
          <p:cNvSpPr/>
          <p:nvPr/>
        </p:nvSpPr>
        <p:spPr>
          <a:xfrm>
            <a:off x="6400800" y="2724912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2200" dirty="0"/>
          </a:p>
        </p:txBody>
      </p:sp>
      <p:sp>
        <p:nvSpPr>
          <p:cNvPr id="18" name="Text 16"/>
          <p:cNvSpPr/>
          <p:nvPr/>
        </p:nvSpPr>
        <p:spPr>
          <a:xfrm>
            <a:off x="6400800" y="3456432"/>
            <a:ext cx="2103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1326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Collaborate</a:t>
            </a:r>
            <a:endParaRPr lang="en-US" sz="2100" dirty="0"/>
          </a:p>
        </p:txBody>
      </p:sp>
      <p:sp>
        <p:nvSpPr>
          <p:cNvPr id="19" name="Text 17"/>
          <p:cNvSpPr/>
          <p:nvPr/>
        </p:nvSpPr>
        <p:spPr>
          <a:xfrm>
            <a:off x="6400800" y="3977640"/>
            <a:ext cx="2084832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C6E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Maritime Operations Centres and partner agencies share tracks, incidents and tasking in real time.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8915400" y="2468880"/>
            <a:ext cx="2606040" cy="3200400"/>
          </a:xfrm>
          <a:prstGeom prst="roundRect">
            <a:avLst>
              <a:gd name="adj" fmla="val 3158"/>
            </a:avLst>
          </a:prstGeom>
          <a:solidFill>
            <a:srgbClr val="F3F7FB"/>
          </a:solidFill>
          <a:ln/>
          <a:effectLst>
            <a:outerShdw sx="100000" sy="100000" kx="0" ky="0" algn="bl" rotWithShape="0" blurRad="101600" dist="38100" dir="5400000">
              <a:srgbClr val="0A1626">
                <a:alpha val="10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9189720" y="2724912"/>
            <a:ext cx="566928" cy="566928"/>
          </a:xfrm>
          <a:prstGeom prst="ellipse">
            <a:avLst/>
          </a:prstGeom>
          <a:solidFill>
            <a:srgbClr val="0B7A3B"/>
          </a:solidFill>
          <a:ln/>
        </p:spPr>
      </p:sp>
      <p:sp>
        <p:nvSpPr>
          <p:cNvPr id="22" name="Text 20"/>
          <p:cNvSpPr/>
          <p:nvPr/>
        </p:nvSpPr>
        <p:spPr>
          <a:xfrm>
            <a:off x="9189720" y="2724912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2200" dirty="0"/>
          </a:p>
        </p:txBody>
      </p:sp>
      <p:sp>
        <p:nvSpPr>
          <p:cNvPr id="23" name="Text 21"/>
          <p:cNvSpPr/>
          <p:nvPr/>
        </p:nvSpPr>
        <p:spPr>
          <a:xfrm>
            <a:off x="9189720" y="3456432"/>
            <a:ext cx="2103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1326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Act</a:t>
            </a:r>
            <a:endParaRPr lang="en-US" sz="2100" dirty="0"/>
          </a:p>
        </p:txBody>
      </p:sp>
      <p:sp>
        <p:nvSpPr>
          <p:cNvPr id="24" name="Text 22"/>
          <p:cNvSpPr/>
          <p:nvPr/>
        </p:nvSpPr>
        <p:spPr>
          <a:xfrm>
            <a:off x="9189720" y="3977640"/>
            <a:ext cx="2084832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C6E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Task assets, run track replay, and issue printable situation reports for command decisions.</a:t>
            </a:r>
            <a:endParaRPr lang="en-US" sz="1200" dirty="0"/>
          </a:p>
        </p:txBody>
      </p:sp>
      <p:sp>
        <p:nvSpPr>
          <p:cNvPr id="25" name="Text 23"/>
          <p:cNvSpPr/>
          <p:nvPr/>
        </p:nvSpPr>
        <p:spPr>
          <a:xfrm>
            <a:off x="54864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326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SeaWatch</a:t>
            </a:r>
            <a:pPr indent="0" marL="0">
              <a:buNone/>
            </a:pPr>
            <a:r>
              <a:rPr lang="en-US" sz="900" dirty="0">
                <a:solidFill>
                  <a:srgbClr val="5C6E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Ghana Navy Maritime Domain Awareness</a:t>
            </a:r>
            <a:endParaRPr lang="en-US" sz="900" dirty="0"/>
          </a:p>
        </p:txBody>
      </p:sp>
      <p:sp>
        <p:nvSpPr>
          <p:cNvPr id="26" name="Text 24"/>
          <p:cNvSpPr/>
          <p:nvPr/>
        </p:nvSpPr>
        <p:spPr>
          <a:xfrm>
            <a:off x="11277295" y="6473952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C6E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200" kern="0" dirty="0">
                <a:solidFill>
                  <a:srgbClr val="2E6F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IT WORKS</a:t>
            </a:r>
            <a:endParaRPr lang="en-US" sz="1250" dirty="0"/>
          </a:p>
        </p:txBody>
      </p:sp>
      <p:sp>
        <p:nvSpPr>
          <p:cNvPr id="3" name="Text 1"/>
          <p:cNvSpPr/>
          <p:nvPr/>
        </p:nvSpPr>
        <p:spPr>
          <a:xfrm>
            <a:off x="548640" y="749808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100" b="1" dirty="0">
                <a:solidFill>
                  <a:srgbClr val="1326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Sensor fusion into a single operating picture</a:t>
            </a:r>
            <a:endParaRPr lang="en-US" sz="3100" dirty="0"/>
          </a:p>
        </p:txBody>
      </p:sp>
      <p:sp>
        <p:nvSpPr>
          <p:cNvPr id="4" name="Shape 2"/>
          <p:cNvSpPr/>
          <p:nvPr/>
        </p:nvSpPr>
        <p:spPr>
          <a:xfrm>
            <a:off x="548640" y="1874520"/>
            <a:ext cx="2743200" cy="914400"/>
          </a:xfrm>
          <a:prstGeom prst="roundRect">
            <a:avLst>
              <a:gd name="adj" fmla="val 9000"/>
            </a:avLst>
          </a:prstGeom>
          <a:solidFill>
            <a:srgbClr val="F3F7FB"/>
          </a:solidFill>
          <a:ln/>
          <a:effectLst>
            <a:outerShdw sx="100000" sy="100000" kx="0" ky="0" algn="bl" rotWithShape="0" blurRad="101600" dist="38100" dir="5400000">
              <a:srgbClr val="0A1626">
                <a:alpha val="10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731520" y="2020824"/>
            <a:ext cx="2468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2E6FB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AIS</a:t>
            </a:r>
            <a:endParaRPr lang="en-US" sz="1700" dirty="0"/>
          </a:p>
        </p:txBody>
      </p:sp>
      <p:sp>
        <p:nvSpPr>
          <p:cNvPr id="6" name="Text 4"/>
          <p:cNvSpPr/>
          <p:nvPr/>
        </p:nvSpPr>
        <p:spPr>
          <a:xfrm>
            <a:off x="731520" y="2350008"/>
            <a:ext cx="24688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C6E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Terrestrial &amp; satellite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5C6E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automatic identification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548640" y="2953512"/>
            <a:ext cx="2743200" cy="914400"/>
          </a:xfrm>
          <a:prstGeom prst="roundRect">
            <a:avLst>
              <a:gd name="adj" fmla="val 9000"/>
            </a:avLst>
          </a:prstGeom>
          <a:solidFill>
            <a:srgbClr val="F3F7FB"/>
          </a:solidFill>
          <a:ln/>
          <a:effectLst>
            <a:outerShdw sx="100000" sy="100000" kx="0" ky="0" algn="bl" rotWithShape="0" blurRad="101600" dist="38100" dir="5400000">
              <a:srgbClr val="0A1626">
                <a:alpha val="10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731520" y="3099816"/>
            <a:ext cx="2468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2E6FB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Radar</a:t>
            </a:r>
            <a:endParaRPr lang="en-US" sz="1700" dirty="0"/>
          </a:p>
        </p:txBody>
      </p:sp>
      <p:sp>
        <p:nvSpPr>
          <p:cNvPr id="9" name="Text 7"/>
          <p:cNvSpPr/>
          <p:nvPr/>
        </p:nvSpPr>
        <p:spPr>
          <a:xfrm>
            <a:off x="731520" y="3429000"/>
            <a:ext cx="24688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C6E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Coastal radar &amp;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5C6E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non-cooperative contacts</a:t>
            </a:r>
            <a:endParaRPr lang="en-US" sz="1050" dirty="0"/>
          </a:p>
        </p:txBody>
      </p:sp>
      <p:sp>
        <p:nvSpPr>
          <p:cNvPr id="10" name="Shape 8"/>
          <p:cNvSpPr/>
          <p:nvPr/>
        </p:nvSpPr>
        <p:spPr>
          <a:xfrm>
            <a:off x="548640" y="4032504"/>
            <a:ext cx="2743200" cy="914400"/>
          </a:xfrm>
          <a:prstGeom prst="roundRect">
            <a:avLst>
              <a:gd name="adj" fmla="val 9000"/>
            </a:avLst>
          </a:prstGeom>
          <a:solidFill>
            <a:srgbClr val="F3F7FB"/>
          </a:solidFill>
          <a:ln/>
          <a:effectLst>
            <a:outerShdw sx="100000" sy="100000" kx="0" ky="0" algn="bl" rotWithShape="0" blurRad="101600" dist="38100" dir="5400000">
              <a:srgbClr val="0A1626">
                <a:alpha val="10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731520" y="4178808"/>
            <a:ext cx="2468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2E6FB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Satellite</a:t>
            </a:r>
            <a:endParaRPr lang="en-US" sz="1700" dirty="0"/>
          </a:p>
        </p:txBody>
      </p:sp>
      <p:sp>
        <p:nvSpPr>
          <p:cNvPr id="12" name="Text 10"/>
          <p:cNvSpPr/>
          <p:nvPr/>
        </p:nvSpPr>
        <p:spPr>
          <a:xfrm>
            <a:off x="731520" y="4507992"/>
            <a:ext cx="24688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C6E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Optical / SAR imagery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5C6E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 dark contacts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4160520" y="2286000"/>
            <a:ext cx="2286000" cy="2194560"/>
          </a:xfrm>
          <a:prstGeom prst="roundRect">
            <a:avLst>
              <a:gd name="adj" fmla="val 3750"/>
            </a:avLst>
          </a:prstGeom>
          <a:solidFill>
            <a:srgbClr val="0A1A2E"/>
          </a:solidFill>
          <a:ln/>
          <a:effectLst>
            <a:outerShdw sx="100000" sy="100000" kx="0" ky="0" algn="bl" rotWithShape="0" blurRad="101600" dist="38100" dir="5400000">
              <a:srgbClr val="0A1626">
                <a:alpha val="10000"/>
              </a:srgbClr>
            </a:outerShdw>
          </a:effectLst>
        </p:spPr>
      </p:sp>
      <p:sp>
        <p:nvSpPr>
          <p:cNvPr id="14" name="Text 12"/>
          <p:cNvSpPr/>
          <p:nvPr/>
        </p:nvSpPr>
        <p:spPr>
          <a:xfrm>
            <a:off x="4160520" y="2834640"/>
            <a:ext cx="2286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SeaWatch</a:t>
            </a:r>
            <a:endParaRPr lang="en-US" sz="1900" dirty="0"/>
          </a:p>
        </p:txBody>
      </p:sp>
      <p:sp>
        <p:nvSpPr>
          <p:cNvPr id="15" name="Text 13"/>
          <p:cNvSpPr/>
          <p:nvPr/>
        </p:nvSpPr>
        <p:spPr>
          <a:xfrm>
            <a:off x="4160520" y="3291840"/>
            <a:ext cx="2286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F2C2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Fusion &amp;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F2C2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Detection Engine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3291840" y="2331720"/>
            <a:ext cx="868680" cy="0"/>
          </a:xfrm>
          <a:prstGeom prst="line">
            <a:avLst/>
          </a:prstGeom>
          <a:noFill/>
          <a:ln w="19050">
            <a:solidFill>
              <a:srgbClr val="C3D2E0"/>
            </a:solidFill>
            <a:prstDash val="solid"/>
            <a:tailEnd type="triangle"/>
          </a:ln>
        </p:spPr>
      </p:sp>
      <p:sp>
        <p:nvSpPr>
          <p:cNvPr id="17" name="Shape 15"/>
          <p:cNvSpPr/>
          <p:nvPr/>
        </p:nvSpPr>
        <p:spPr>
          <a:xfrm>
            <a:off x="3291840" y="3410712"/>
            <a:ext cx="868680" cy="0"/>
          </a:xfrm>
          <a:prstGeom prst="line">
            <a:avLst/>
          </a:prstGeom>
          <a:noFill/>
          <a:ln w="19050">
            <a:solidFill>
              <a:srgbClr val="C3D2E0"/>
            </a:solidFill>
            <a:prstDash val="solid"/>
            <a:tailEnd type="triangle"/>
          </a:ln>
        </p:spPr>
      </p:sp>
      <p:sp>
        <p:nvSpPr>
          <p:cNvPr id="18" name="Shape 16"/>
          <p:cNvSpPr/>
          <p:nvPr/>
        </p:nvSpPr>
        <p:spPr>
          <a:xfrm>
            <a:off x="3291840" y="4489704"/>
            <a:ext cx="868680" cy="0"/>
          </a:xfrm>
          <a:prstGeom prst="line">
            <a:avLst/>
          </a:prstGeom>
          <a:noFill/>
          <a:ln w="19050">
            <a:solidFill>
              <a:srgbClr val="C3D2E0"/>
            </a:solidFill>
            <a:prstDash val="solid"/>
            <a:tailEnd type="triangle"/>
          </a:ln>
        </p:spPr>
      </p:sp>
      <p:sp>
        <p:nvSpPr>
          <p:cNvPr id="19" name="Shape 17"/>
          <p:cNvSpPr/>
          <p:nvPr/>
        </p:nvSpPr>
        <p:spPr>
          <a:xfrm>
            <a:off x="6446520" y="3383280"/>
            <a:ext cx="914400" cy="0"/>
          </a:xfrm>
          <a:prstGeom prst="line">
            <a:avLst/>
          </a:prstGeom>
          <a:noFill/>
          <a:ln w="19050">
            <a:solidFill>
              <a:srgbClr val="C3D2E0"/>
            </a:solidFill>
            <a:prstDash val="solid"/>
            <a:tailEnd type="triangle"/>
          </a:ln>
        </p:spPr>
      </p:sp>
      <p:sp>
        <p:nvSpPr>
          <p:cNvPr id="20" name="Shape 18"/>
          <p:cNvSpPr/>
          <p:nvPr/>
        </p:nvSpPr>
        <p:spPr>
          <a:xfrm>
            <a:off x="7406640" y="1874520"/>
            <a:ext cx="4233672" cy="3703320"/>
          </a:xfrm>
          <a:prstGeom prst="roundRect">
            <a:avLst>
              <a:gd name="adj" fmla="val 2222"/>
            </a:avLst>
          </a:prstGeom>
          <a:solidFill>
            <a:srgbClr val="F3F7FB"/>
          </a:solidFill>
          <a:ln/>
          <a:effectLst>
            <a:outerShdw sx="100000" sy="100000" kx="0" ky="0" algn="bl" rotWithShape="0" blurRad="101600" dist="38100" dir="5400000">
              <a:srgbClr val="0A1626">
                <a:alpha val="10000"/>
              </a:srgbClr>
            </a:outerShdw>
          </a:effectLst>
        </p:spPr>
      </p:sp>
      <p:sp>
        <p:nvSpPr>
          <p:cNvPr id="21" name="Text 19"/>
          <p:cNvSpPr/>
          <p:nvPr/>
        </p:nvSpPr>
        <p:spPr>
          <a:xfrm>
            <a:off x="7635240" y="2057400"/>
            <a:ext cx="3840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100" kern="0" dirty="0">
                <a:solidFill>
                  <a:srgbClr val="1326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COMMON OPERATING PICTURE</a:t>
            </a:r>
            <a:endParaRPr lang="en-US" sz="1250" dirty="0"/>
          </a:p>
        </p:txBody>
      </p:sp>
      <p:sp>
        <p:nvSpPr>
          <p:cNvPr id="22" name="Shape 20"/>
          <p:cNvSpPr/>
          <p:nvPr/>
        </p:nvSpPr>
        <p:spPr>
          <a:xfrm>
            <a:off x="7680960" y="2578608"/>
            <a:ext cx="128016" cy="128016"/>
          </a:xfrm>
          <a:prstGeom prst="ellipse">
            <a:avLst/>
          </a:prstGeom>
          <a:solidFill>
            <a:srgbClr val="0B7A3B"/>
          </a:solidFill>
          <a:ln/>
        </p:spPr>
      </p:sp>
      <p:sp>
        <p:nvSpPr>
          <p:cNvPr id="23" name="Text 21"/>
          <p:cNvSpPr/>
          <p:nvPr/>
        </p:nvSpPr>
        <p:spPr>
          <a:xfrm>
            <a:off x="7936992" y="2487168"/>
            <a:ext cx="3566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326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 vessel tracks, classification &amp; search</a:t>
            </a:r>
            <a:endParaRPr lang="en-US" sz="1250" dirty="0"/>
          </a:p>
        </p:txBody>
      </p:sp>
      <p:sp>
        <p:nvSpPr>
          <p:cNvPr id="24" name="Shape 22"/>
          <p:cNvSpPr/>
          <p:nvPr/>
        </p:nvSpPr>
        <p:spPr>
          <a:xfrm>
            <a:off x="7680960" y="3127248"/>
            <a:ext cx="128016" cy="128016"/>
          </a:xfrm>
          <a:prstGeom prst="ellipse">
            <a:avLst/>
          </a:prstGeom>
          <a:solidFill>
            <a:srgbClr val="0B7A3B"/>
          </a:solidFill>
          <a:ln/>
        </p:spPr>
      </p:sp>
      <p:sp>
        <p:nvSpPr>
          <p:cNvPr id="25" name="Text 23"/>
          <p:cNvSpPr/>
          <p:nvPr/>
        </p:nvSpPr>
        <p:spPr>
          <a:xfrm>
            <a:off x="7936992" y="3035808"/>
            <a:ext cx="3566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326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Automated threat &amp; anomaly alerts</a:t>
            </a:r>
            <a:endParaRPr lang="en-US" sz="1250" dirty="0"/>
          </a:p>
        </p:txBody>
      </p:sp>
      <p:sp>
        <p:nvSpPr>
          <p:cNvPr id="26" name="Shape 24"/>
          <p:cNvSpPr/>
          <p:nvPr/>
        </p:nvSpPr>
        <p:spPr>
          <a:xfrm>
            <a:off x="7680960" y="3675888"/>
            <a:ext cx="128016" cy="128016"/>
          </a:xfrm>
          <a:prstGeom prst="ellipse">
            <a:avLst/>
          </a:prstGeom>
          <a:solidFill>
            <a:srgbClr val="0B7A3B"/>
          </a:solidFill>
          <a:ln/>
        </p:spPr>
      </p:sp>
      <p:sp>
        <p:nvSpPr>
          <p:cNvPr id="27" name="Text 25"/>
          <p:cNvSpPr/>
          <p:nvPr/>
        </p:nvSpPr>
        <p:spPr>
          <a:xfrm>
            <a:off x="7936992" y="3584448"/>
            <a:ext cx="3566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326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Vessel risk scoring (0–100)</a:t>
            </a:r>
            <a:endParaRPr lang="en-US" sz="1250" dirty="0"/>
          </a:p>
        </p:txBody>
      </p:sp>
      <p:sp>
        <p:nvSpPr>
          <p:cNvPr id="28" name="Shape 26"/>
          <p:cNvSpPr/>
          <p:nvPr/>
        </p:nvSpPr>
        <p:spPr>
          <a:xfrm>
            <a:off x="7680960" y="4224528"/>
            <a:ext cx="128016" cy="128016"/>
          </a:xfrm>
          <a:prstGeom prst="ellipse">
            <a:avLst/>
          </a:prstGeom>
          <a:solidFill>
            <a:srgbClr val="0B7A3B"/>
          </a:solidFill>
          <a:ln/>
        </p:spPr>
      </p:sp>
      <p:sp>
        <p:nvSpPr>
          <p:cNvPr id="29" name="Text 27"/>
          <p:cNvSpPr/>
          <p:nvPr/>
        </p:nvSpPr>
        <p:spPr>
          <a:xfrm>
            <a:off x="7936992" y="4133088"/>
            <a:ext cx="3566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326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Shared incidents &amp; inter-agency tasking</a:t>
            </a:r>
            <a:endParaRPr lang="en-US" sz="1250" dirty="0"/>
          </a:p>
        </p:txBody>
      </p:sp>
      <p:sp>
        <p:nvSpPr>
          <p:cNvPr id="30" name="Shape 28"/>
          <p:cNvSpPr/>
          <p:nvPr/>
        </p:nvSpPr>
        <p:spPr>
          <a:xfrm>
            <a:off x="7680960" y="4773168"/>
            <a:ext cx="128016" cy="128016"/>
          </a:xfrm>
          <a:prstGeom prst="ellipse">
            <a:avLst/>
          </a:prstGeom>
          <a:solidFill>
            <a:srgbClr val="0B7A3B"/>
          </a:solidFill>
          <a:ln/>
        </p:spPr>
      </p:sp>
      <p:sp>
        <p:nvSpPr>
          <p:cNvPr id="31" name="Text 29"/>
          <p:cNvSpPr/>
          <p:nvPr/>
        </p:nvSpPr>
        <p:spPr>
          <a:xfrm>
            <a:off x="7936992" y="4681728"/>
            <a:ext cx="3566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326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Track replay &amp; situation reports</a:t>
            </a:r>
            <a:endParaRPr lang="en-US" sz="1250" dirty="0"/>
          </a:p>
        </p:txBody>
      </p:sp>
      <p:sp>
        <p:nvSpPr>
          <p:cNvPr id="32" name="Text 30"/>
          <p:cNvSpPr/>
          <p:nvPr/>
        </p:nvSpPr>
        <p:spPr>
          <a:xfrm>
            <a:off x="548640" y="5806440"/>
            <a:ext cx="65836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5C6E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Runs on live feeds where available, with a high-fidelity simulation mode for training and demonstration — switchable in one click.</a:t>
            </a:r>
            <a:endParaRPr lang="en-US" sz="1100" dirty="0"/>
          </a:p>
        </p:txBody>
      </p:sp>
      <p:sp>
        <p:nvSpPr>
          <p:cNvPr id="33" name="Text 31"/>
          <p:cNvSpPr/>
          <p:nvPr/>
        </p:nvSpPr>
        <p:spPr>
          <a:xfrm>
            <a:off x="54864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326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SeaWatch</a:t>
            </a:r>
            <a:pPr indent="0" marL="0">
              <a:buNone/>
            </a:pPr>
            <a:r>
              <a:rPr lang="en-US" sz="900" dirty="0">
                <a:solidFill>
                  <a:srgbClr val="5C6E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Ghana Navy Maritime Domain Awareness</a:t>
            </a:r>
            <a:endParaRPr lang="en-US" sz="900" dirty="0"/>
          </a:p>
        </p:txBody>
      </p:sp>
      <p:sp>
        <p:nvSpPr>
          <p:cNvPr id="34" name="Text 32"/>
          <p:cNvSpPr/>
          <p:nvPr/>
        </p:nvSpPr>
        <p:spPr>
          <a:xfrm>
            <a:off x="11277295" y="6473952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C6E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200" kern="0" dirty="0">
                <a:solidFill>
                  <a:srgbClr val="2E6F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CAPABILITY 1 — SITUATIONAL AWARENESS</a:t>
            </a:r>
            <a:endParaRPr lang="en-US" sz="1250" dirty="0"/>
          </a:p>
        </p:txBody>
      </p:sp>
      <p:sp>
        <p:nvSpPr>
          <p:cNvPr id="3" name="Text 1"/>
          <p:cNvSpPr/>
          <p:nvPr/>
        </p:nvSpPr>
        <p:spPr>
          <a:xfrm>
            <a:off x="548640" y="749808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100" b="1" dirty="0">
                <a:solidFill>
                  <a:srgbClr val="1326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Live common operating picture</a:t>
            </a:r>
            <a:endParaRPr lang="en-US" sz="3100" dirty="0"/>
          </a:p>
        </p:txBody>
      </p:sp>
      <p:sp>
        <p:nvSpPr>
          <p:cNvPr id="4" name="Shape 2"/>
          <p:cNvSpPr/>
          <p:nvPr/>
        </p:nvSpPr>
        <p:spPr>
          <a:xfrm>
            <a:off x="548640" y="1828800"/>
            <a:ext cx="5394960" cy="1737360"/>
          </a:xfrm>
          <a:prstGeom prst="roundRect">
            <a:avLst>
              <a:gd name="adj" fmla="val 4737"/>
            </a:avLst>
          </a:prstGeom>
          <a:solidFill>
            <a:srgbClr val="F3F7FB"/>
          </a:solidFill>
          <a:ln/>
          <a:effectLst>
            <a:outerShdw sx="100000" sy="100000" kx="0" ky="0" algn="bl" rotWithShape="0" blurRad="101600" dist="38100" dir="5400000">
              <a:srgbClr val="0A1626">
                <a:alpha val="10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868680" y="2057400"/>
            <a:ext cx="48463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326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Real-time vessel tracking</a:t>
            </a:r>
            <a:endParaRPr lang="en-US" sz="1700" dirty="0"/>
          </a:p>
        </p:txBody>
      </p:sp>
      <p:sp>
        <p:nvSpPr>
          <p:cNvPr id="6" name="Text 4"/>
          <p:cNvSpPr/>
          <p:nvPr/>
        </p:nvSpPr>
        <p:spPr>
          <a:xfrm>
            <a:off x="868680" y="2542032"/>
            <a:ext cx="48463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5C6E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cooperative contact plotted live on the Gulf of Guinea, updating continuously with course, speed and heading.</a:t>
            </a:r>
            <a:endParaRPr lang="en-US" sz="1250" dirty="0"/>
          </a:p>
        </p:txBody>
      </p:sp>
      <p:sp>
        <p:nvSpPr>
          <p:cNvPr id="7" name="Shape 5"/>
          <p:cNvSpPr/>
          <p:nvPr/>
        </p:nvSpPr>
        <p:spPr>
          <a:xfrm>
            <a:off x="6172200" y="1828800"/>
            <a:ext cx="5394960" cy="1737360"/>
          </a:xfrm>
          <a:prstGeom prst="roundRect">
            <a:avLst>
              <a:gd name="adj" fmla="val 4737"/>
            </a:avLst>
          </a:prstGeom>
          <a:solidFill>
            <a:srgbClr val="F3F7FB"/>
          </a:solidFill>
          <a:ln/>
          <a:effectLst>
            <a:outerShdw sx="100000" sy="100000" kx="0" ky="0" algn="bl" rotWithShape="0" blurRad="101600" dist="38100" dir="5400000">
              <a:srgbClr val="0A1626">
                <a:alpha val="10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6492240" y="2057400"/>
            <a:ext cx="48463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326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Classification at a glance</a:t>
            </a:r>
            <a:endParaRPr lang="en-US" sz="1700" dirty="0"/>
          </a:p>
        </p:txBody>
      </p:sp>
      <p:sp>
        <p:nvSpPr>
          <p:cNvPr id="9" name="Text 7"/>
          <p:cNvSpPr/>
          <p:nvPr/>
        </p:nvSpPr>
        <p:spPr>
          <a:xfrm>
            <a:off x="6492240" y="2542032"/>
            <a:ext cx="48463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5C6E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Own / allied naval units, known commercial traffic, unidentified and flagged contacts — colour-coded on the map.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548640" y="3794760"/>
            <a:ext cx="5394960" cy="1737360"/>
          </a:xfrm>
          <a:prstGeom prst="roundRect">
            <a:avLst>
              <a:gd name="adj" fmla="val 4737"/>
            </a:avLst>
          </a:prstGeom>
          <a:solidFill>
            <a:srgbClr val="F3F7FB"/>
          </a:solidFill>
          <a:ln/>
          <a:effectLst>
            <a:outerShdw sx="100000" sy="100000" kx="0" ky="0" algn="bl" rotWithShape="0" blurRad="101600" dist="38100" dir="5400000">
              <a:srgbClr val="0A1626">
                <a:alpha val="10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868680" y="4023360"/>
            <a:ext cx="48463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326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Search &amp; filter</a:t>
            </a:r>
            <a:endParaRPr lang="en-US" sz="1700" dirty="0"/>
          </a:p>
        </p:txBody>
      </p:sp>
      <p:sp>
        <p:nvSpPr>
          <p:cNvPr id="12" name="Text 10"/>
          <p:cNvSpPr/>
          <p:nvPr/>
        </p:nvSpPr>
        <p:spPr>
          <a:xfrm>
            <a:off x="868680" y="4507992"/>
            <a:ext cx="48463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5C6E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Find any vessel by name or MMSI; filter by type, flag or classification; isolate flagged contacts instantly.</a:t>
            </a:r>
            <a:endParaRPr lang="en-US" sz="1250" dirty="0"/>
          </a:p>
        </p:txBody>
      </p:sp>
      <p:sp>
        <p:nvSpPr>
          <p:cNvPr id="13" name="Shape 11"/>
          <p:cNvSpPr/>
          <p:nvPr/>
        </p:nvSpPr>
        <p:spPr>
          <a:xfrm>
            <a:off x="6172200" y="3794760"/>
            <a:ext cx="5394960" cy="1737360"/>
          </a:xfrm>
          <a:prstGeom prst="roundRect">
            <a:avLst>
              <a:gd name="adj" fmla="val 4737"/>
            </a:avLst>
          </a:prstGeom>
          <a:solidFill>
            <a:srgbClr val="F3F7FB"/>
          </a:solidFill>
          <a:ln/>
          <a:effectLst>
            <a:outerShdw sx="100000" sy="100000" kx="0" ky="0" algn="bl" rotWithShape="0" blurRad="101600" dist="38100" dir="5400000">
              <a:srgbClr val="0A1626">
                <a:alpha val="10000"/>
              </a:srgbClr>
            </a:outerShdw>
          </a:effectLst>
        </p:spPr>
      </p:sp>
      <p:sp>
        <p:nvSpPr>
          <p:cNvPr id="14" name="Text 12"/>
          <p:cNvSpPr/>
          <p:nvPr/>
        </p:nvSpPr>
        <p:spPr>
          <a:xfrm>
            <a:off x="6492240" y="4023360"/>
            <a:ext cx="48463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326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Multiple basemaps</a:t>
            </a:r>
            <a:endParaRPr lang="en-US" sz="1700" dirty="0"/>
          </a:p>
        </p:txBody>
      </p:sp>
      <p:sp>
        <p:nvSpPr>
          <p:cNvPr id="15" name="Text 13"/>
          <p:cNvSpPr/>
          <p:nvPr/>
        </p:nvSpPr>
        <p:spPr>
          <a:xfrm>
            <a:off x="6492240" y="4507992"/>
            <a:ext cx="48463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5C6E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Dark tactical, satellite imagery and nautical ocean charts — switch to match the task.</a:t>
            </a:r>
            <a:endParaRPr lang="en-US" sz="1250" dirty="0"/>
          </a:p>
        </p:txBody>
      </p:sp>
      <p:sp>
        <p:nvSpPr>
          <p:cNvPr id="16" name="Text 14"/>
          <p:cNvSpPr/>
          <p:nvPr/>
        </p:nvSpPr>
        <p:spPr>
          <a:xfrm>
            <a:off x="54864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326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SeaWatch</a:t>
            </a:r>
            <a:pPr indent="0" marL="0">
              <a:buNone/>
            </a:pPr>
            <a:r>
              <a:rPr lang="en-US" sz="900" dirty="0">
                <a:solidFill>
                  <a:srgbClr val="5C6E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Ghana Navy Maritime Domain Awareness</a:t>
            </a:r>
            <a:endParaRPr lang="en-US" sz="900" dirty="0"/>
          </a:p>
        </p:txBody>
      </p:sp>
      <p:sp>
        <p:nvSpPr>
          <p:cNvPr id="17" name="Text 15"/>
          <p:cNvSpPr/>
          <p:nvPr/>
        </p:nvSpPr>
        <p:spPr>
          <a:xfrm>
            <a:off x="11277295" y="6473952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C6E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200" kern="0" dirty="0">
                <a:solidFill>
                  <a:srgbClr val="F2C2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CAPABILITY 2 — THE HEADLINE</a:t>
            </a:r>
            <a:endParaRPr lang="en-US" sz="1250" dirty="0"/>
          </a:p>
        </p:txBody>
      </p:sp>
      <p:sp>
        <p:nvSpPr>
          <p:cNvPr id="3" name="Text 1"/>
          <p:cNvSpPr/>
          <p:nvPr/>
        </p:nvSpPr>
        <p:spPr>
          <a:xfrm>
            <a:off x="548640" y="749808"/>
            <a:ext cx="109728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1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Dark-vessel detection</a:t>
            </a:r>
            <a:endParaRPr lang="en-US" sz="3100" dirty="0"/>
          </a:p>
        </p:txBody>
      </p:sp>
      <p:sp>
        <p:nvSpPr>
          <p:cNvPr id="4" name="Text 2"/>
          <p:cNvSpPr/>
          <p:nvPr/>
        </p:nvSpPr>
        <p:spPr>
          <a:xfrm>
            <a:off x="548640" y="1554480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B8CC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Vessels that go “dark” — switching off AIS to evade detection — are the hardest and most important to catch. SeaWatch flags them automatically using five behavioural detectors.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548640" y="2468880"/>
            <a:ext cx="2057400" cy="2286000"/>
          </a:xfrm>
          <a:prstGeom prst="roundRect">
            <a:avLst>
              <a:gd name="adj" fmla="val 4000"/>
            </a:avLst>
          </a:prstGeom>
          <a:solidFill>
            <a:srgbClr val="17324F"/>
          </a:solidFill>
          <a:ln/>
          <a:effectLst>
            <a:outerShdw sx="100000" sy="100000" kx="0" ky="0" algn="bl" rotWithShape="0" blurRad="101600" dist="38100" dir="5400000">
              <a:srgbClr val="0A1626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1325880" y="2697480"/>
            <a:ext cx="502920" cy="502920"/>
          </a:xfrm>
          <a:prstGeom prst="ellipse">
            <a:avLst/>
          </a:prstGeom>
          <a:solidFill>
            <a:srgbClr val="C8102E"/>
          </a:solidFill>
          <a:ln/>
        </p:spPr>
      </p:sp>
      <p:sp>
        <p:nvSpPr>
          <p:cNvPr id="7" name="Text 5"/>
          <p:cNvSpPr/>
          <p:nvPr/>
        </p:nvSpPr>
        <p:spPr>
          <a:xfrm>
            <a:off x="1325880" y="269748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658368" y="3310128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2C2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AIS Gap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713232" y="3703320"/>
            <a:ext cx="1737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C8D8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Transponder switched off at sea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2788920" y="2468880"/>
            <a:ext cx="2057400" cy="2286000"/>
          </a:xfrm>
          <a:prstGeom prst="roundRect">
            <a:avLst>
              <a:gd name="adj" fmla="val 4000"/>
            </a:avLst>
          </a:prstGeom>
          <a:solidFill>
            <a:srgbClr val="17324F"/>
          </a:solidFill>
          <a:ln/>
          <a:effectLst>
            <a:outerShdw sx="100000" sy="100000" kx="0" ky="0" algn="bl" rotWithShape="0" blurRad="101600" dist="38100" dir="5400000">
              <a:srgbClr val="0A1626">
                <a:alpha val="10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3566160" y="2697480"/>
            <a:ext cx="502920" cy="502920"/>
          </a:xfrm>
          <a:prstGeom prst="ellipse">
            <a:avLst/>
          </a:prstGeom>
          <a:solidFill>
            <a:srgbClr val="C8102E"/>
          </a:solidFill>
          <a:ln/>
        </p:spPr>
      </p:sp>
      <p:sp>
        <p:nvSpPr>
          <p:cNvPr id="12" name="Text 10"/>
          <p:cNvSpPr/>
          <p:nvPr/>
        </p:nvSpPr>
        <p:spPr>
          <a:xfrm>
            <a:off x="3566160" y="269748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800" dirty="0"/>
          </a:p>
        </p:txBody>
      </p:sp>
      <p:sp>
        <p:nvSpPr>
          <p:cNvPr id="13" name="Text 11"/>
          <p:cNvSpPr/>
          <p:nvPr/>
        </p:nvSpPr>
        <p:spPr>
          <a:xfrm>
            <a:off x="2898648" y="3310128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2C2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Spoofing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2953512" y="3703320"/>
            <a:ext cx="1737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C8D8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Falsified or impossible GPS position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5029200" y="2468880"/>
            <a:ext cx="2057400" cy="2286000"/>
          </a:xfrm>
          <a:prstGeom prst="roundRect">
            <a:avLst>
              <a:gd name="adj" fmla="val 4000"/>
            </a:avLst>
          </a:prstGeom>
          <a:solidFill>
            <a:srgbClr val="17324F"/>
          </a:solidFill>
          <a:ln/>
          <a:effectLst>
            <a:outerShdw sx="100000" sy="100000" kx="0" ky="0" algn="bl" rotWithShape="0" blurRad="101600" dist="38100" dir="5400000">
              <a:srgbClr val="0A1626">
                <a:alpha val="10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5806440" y="2697480"/>
            <a:ext cx="502920" cy="502920"/>
          </a:xfrm>
          <a:prstGeom prst="ellipse">
            <a:avLst/>
          </a:prstGeom>
          <a:solidFill>
            <a:srgbClr val="C8102E"/>
          </a:solidFill>
          <a:ln/>
        </p:spPr>
      </p:sp>
      <p:sp>
        <p:nvSpPr>
          <p:cNvPr id="17" name="Text 15"/>
          <p:cNvSpPr/>
          <p:nvPr/>
        </p:nvSpPr>
        <p:spPr>
          <a:xfrm>
            <a:off x="5806440" y="269748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800" dirty="0"/>
          </a:p>
        </p:txBody>
      </p:sp>
      <p:sp>
        <p:nvSpPr>
          <p:cNvPr id="18" name="Text 16"/>
          <p:cNvSpPr/>
          <p:nvPr/>
        </p:nvSpPr>
        <p:spPr>
          <a:xfrm>
            <a:off x="5138928" y="3310128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2C2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Loitering</a:t>
            </a:r>
            <a:endParaRPr lang="en-US" sz="1500" dirty="0"/>
          </a:p>
        </p:txBody>
      </p:sp>
      <p:sp>
        <p:nvSpPr>
          <p:cNvPr id="19" name="Text 17"/>
          <p:cNvSpPr/>
          <p:nvPr/>
        </p:nvSpPr>
        <p:spPr>
          <a:xfrm>
            <a:off x="5193792" y="3703320"/>
            <a:ext cx="1737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C8D8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Slow drift inside a sensitive zone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7269480" y="2468880"/>
            <a:ext cx="2057400" cy="2286000"/>
          </a:xfrm>
          <a:prstGeom prst="roundRect">
            <a:avLst>
              <a:gd name="adj" fmla="val 4000"/>
            </a:avLst>
          </a:prstGeom>
          <a:solidFill>
            <a:srgbClr val="17324F"/>
          </a:solidFill>
          <a:ln/>
          <a:effectLst>
            <a:outerShdw sx="100000" sy="100000" kx="0" ky="0" algn="bl" rotWithShape="0" blurRad="101600" dist="38100" dir="5400000">
              <a:srgbClr val="0A1626">
                <a:alpha val="10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8046720" y="2697480"/>
            <a:ext cx="502920" cy="502920"/>
          </a:xfrm>
          <a:prstGeom prst="ellipse">
            <a:avLst/>
          </a:prstGeom>
          <a:solidFill>
            <a:srgbClr val="C8102E"/>
          </a:solidFill>
          <a:ln/>
        </p:spPr>
      </p:sp>
      <p:sp>
        <p:nvSpPr>
          <p:cNvPr id="22" name="Text 20"/>
          <p:cNvSpPr/>
          <p:nvPr/>
        </p:nvSpPr>
        <p:spPr>
          <a:xfrm>
            <a:off x="8046720" y="269748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1800" dirty="0"/>
          </a:p>
        </p:txBody>
      </p:sp>
      <p:sp>
        <p:nvSpPr>
          <p:cNvPr id="23" name="Text 21"/>
          <p:cNvSpPr/>
          <p:nvPr/>
        </p:nvSpPr>
        <p:spPr>
          <a:xfrm>
            <a:off x="7379208" y="3310128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2C2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Ship-to-Ship</a:t>
            </a:r>
            <a:endParaRPr lang="en-US" sz="1500" dirty="0"/>
          </a:p>
        </p:txBody>
      </p:sp>
      <p:sp>
        <p:nvSpPr>
          <p:cNvPr id="24" name="Text 22"/>
          <p:cNvSpPr/>
          <p:nvPr/>
        </p:nvSpPr>
        <p:spPr>
          <a:xfrm>
            <a:off x="7434072" y="3703320"/>
            <a:ext cx="1737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C8D8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Covert offshore rendezvous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9509760" y="2468880"/>
            <a:ext cx="2057400" cy="2286000"/>
          </a:xfrm>
          <a:prstGeom prst="roundRect">
            <a:avLst>
              <a:gd name="adj" fmla="val 4000"/>
            </a:avLst>
          </a:prstGeom>
          <a:solidFill>
            <a:srgbClr val="17324F"/>
          </a:solidFill>
          <a:ln/>
          <a:effectLst>
            <a:outerShdw sx="100000" sy="100000" kx="0" ky="0" algn="bl" rotWithShape="0" blurRad="101600" dist="38100" dir="5400000">
              <a:srgbClr val="0A1626">
                <a:alpha val="10000"/>
              </a:srgbClr>
            </a:outerShdw>
          </a:effectLst>
        </p:spPr>
      </p:sp>
      <p:sp>
        <p:nvSpPr>
          <p:cNvPr id="26" name="Shape 24"/>
          <p:cNvSpPr/>
          <p:nvPr/>
        </p:nvSpPr>
        <p:spPr>
          <a:xfrm>
            <a:off x="10287000" y="2697480"/>
            <a:ext cx="502920" cy="502920"/>
          </a:xfrm>
          <a:prstGeom prst="ellipse">
            <a:avLst/>
          </a:prstGeom>
          <a:solidFill>
            <a:srgbClr val="C8102E"/>
          </a:solidFill>
          <a:ln/>
        </p:spPr>
      </p:sp>
      <p:sp>
        <p:nvSpPr>
          <p:cNvPr id="27" name="Text 25"/>
          <p:cNvSpPr/>
          <p:nvPr/>
        </p:nvSpPr>
        <p:spPr>
          <a:xfrm>
            <a:off x="10287000" y="269748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</a:t>
            </a:r>
            <a:endParaRPr lang="en-US" sz="1800" dirty="0"/>
          </a:p>
        </p:txBody>
      </p:sp>
      <p:sp>
        <p:nvSpPr>
          <p:cNvPr id="28" name="Text 26"/>
          <p:cNvSpPr/>
          <p:nvPr/>
        </p:nvSpPr>
        <p:spPr>
          <a:xfrm>
            <a:off x="9619488" y="3310128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2C2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Zone Breach</a:t>
            </a:r>
            <a:endParaRPr lang="en-US" sz="1500" dirty="0"/>
          </a:p>
        </p:txBody>
      </p:sp>
      <p:sp>
        <p:nvSpPr>
          <p:cNvPr id="29" name="Text 27"/>
          <p:cNvSpPr/>
          <p:nvPr/>
        </p:nvSpPr>
        <p:spPr>
          <a:xfrm>
            <a:off x="9674352" y="3703320"/>
            <a:ext cx="1737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C8D8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Incursion into a restricted area</a:t>
            </a:r>
            <a:endParaRPr lang="en-US" sz="1100" dirty="0"/>
          </a:p>
        </p:txBody>
      </p:sp>
      <p:sp>
        <p:nvSpPr>
          <p:cNvPr id="30" name="Text 28"/>
          <p:cNvSpPr/>
          <p:nvPr/>
        </p:nvSpPr>
        <p:spPr>
          <a:xfrm>
            <a:off x="548640" y="5029200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B8CC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detection raises a graded alert and feeds the vessel’s risk score — turning raw tracks into prioritised, actionable intelligence.</a:t>
            </a:r>
            <a:endParaRPr lang="en-US" sz="1300" dirty="0"/>
          </a:p>
        </p:txBody>
      </p:sp>
      <p:sp>
        <p:nvSpPr>
          <p:cNvPr id="31" name="Text 29"/>
          <p:cNvSpPr/>
          <p:nvPr/>
        </p:nvSpPr>
        <p:spPr>
          <a:xfrm>
            <a:off x="54864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326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SeaWatch</a:t>
            </a:r>
            <a:pPr indent="0" marL="0">
              <a:buNone/>
            </a:pPr>
            <a:r>
              <a:rPr lang="en-US" sz="900" dirty="0">
                <a:solidFill>
                  <a:srgbClr val="5C6E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Ghana Navy Maritime Domain Awareness</a:t>
            </a:r>
            <a:endParaRPr lang="en-US" sz="900" dirty="0"/>
          </a:p>
        </p:txBody>
      </p:sp>
      <p:sp>
        <p:nvSpPr>
          <p:cNvPr id="32" name="Text 30"/>
          <p:cNvSpPr/>
          <p:nvPr/>
        </p:nvSpPr>
        <p:spPr>
          <a:xfrm>
            <a:off x="11277295" y="6473952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C6E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200" kern="0" dirty="0">
                <a:solidFill>
                  <a:srgbClr val="C810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CAPABILITY 2 — DETAIL</a:t>
            </a:r>
            <a:endParaRPr lang="en-US" sz="1250" dirty="0"/>
          </a:p>
        </p:txBody>
      </p:sp>
      <p:sp>
        <p:nvSpPr>
          <p:cNvPr id="3" name="Text 1"/>
          <p:cNvSpPr/>
          <p:nvPr/>
        </p:nvSpPr>
        <p:spPr>
          <a:xfrm>
            <a:off x="548640" y="749808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100" b="1" dirty="0">
                <a:solidFill>
                  <a:srgbClr val="1326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Threat &amp; anomaly alerts — trigger parameters</a:t>
            </a:r>
            <a:endParaRPr lang="en-US" sz="310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783080"/>
          <a:ext cx="11091672" cy="914400"/>
        </p:xfrm>
        <a:graphic>
          <a:graphicData uri="http://schemas.openxmlformats.org/drawingml/2006/table">
            <a:tbl>
              <a:tblPr/>
              <a:tblGrid>
                <a:gridCol w="2743200"/>
                <a:gridCol w="6062472"/>
                <a:gridCol w="2286000"/>
              </a:tblGrid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Alert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CE6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6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6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6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A2E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Triggered when…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CE6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6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6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6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A2E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Severity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CE6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6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6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6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A2E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1326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AIS Gap (going dark)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CE6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6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6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6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5C6E8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 AIS transmission for more than 6 hours while at sea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CE6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6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6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6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E08A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Medium → High (&gt;12h)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CE6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6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6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6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1326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Position Spoofing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CE6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6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6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6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7F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5C6E8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Implausible position jumps / &gt;45 kn implied speed — falsified GPS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CE6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6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6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6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7F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C810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High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CE6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6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6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6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7FB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1326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Loitering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CE6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6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6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6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5C6E8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Speed below 1.2 kn for over 25 min inside a sensitive zone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CE6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6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6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6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E08A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Medium → High (oil field)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CE6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6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6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6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71323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1326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Restricted-Zone Incursion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CE6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6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6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6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7F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5C6E8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Trawler/large vessel in artisanal zone; any non-support vessel in an oil-field safety zone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CE6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6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6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6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7F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E08A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Medium → High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CE6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6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6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6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7FB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1326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Ship-to-Ship (STS)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CE6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6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6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6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5C6E8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Two slow (&lt;3 kn) vessels within 0.6 NM offshore, outside a designated anchorage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CE6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6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6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6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C810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High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CE6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6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6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6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1326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Non-Cooperative Contact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CE6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6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6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6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7F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5C6E8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Radar / satellite contact with no matching AIS (sensor-fusion gap)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CE6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6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6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6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7F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C810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High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CE6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6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6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6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7FB"/>
                    </a:solidFill>
                  </a:tcPr>
                </a:tc>
              </a:tr>
            </a:tbl>
          </a:graphicData>
        </a:graphic>
      </p:graphicFrame>
      <p:sp>
        <p:nvSpPr>
          <p:cNvPr id="5" name="Text 2"/>
          <p:cNvSpPr/>
          <p:nvPr/>
        </p:nvSpPr>
        <p:spPr>
          <a:xfrm>
            <a:off x="548640" y="5989320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5C6E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thresholds are configurable to Ghana Navy doctrine. Detections also drive the vessel risk score on the next slide.</a:t>
            </a:r>
            <a:endParaRPr lang="en-US" sz="1100" dirty="0"/>
          </a:p>
        </p:txBody>
      </p:sp>
      <p:sp>
        <p:nvSpPr>
          <p:cNvPr id="6" name="Text 3"/>
          <p:cNvSpPr/>
          <p:nvPr/>
        </p:nvSpPr>
        <p:spPr>
          <a:xfrm>
            <a:off x="54864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326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SeaWatch</a:t>
            </a:r>
            <a:pPr indent="0" marL="0">
              <a:buNone/>
            </a:pPr>
            <a:r>
              <a:rPr lang="en-US" sz="900" dirty="0">
                <a:solidFill>
                  <a:srgbClr val="5C6E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Ghana Navy Maritime Domain Awareness</a:t>
            </a:r>
            <a:endParaRPr lang="en-US" sz="900" dirty="0"/>
          </a:p>
        </p:txBody>
      </p:sp>
      <p:sp>
        <p:nvSpPr>
          <p:cNvPr id="7" name="Text 4"/>
          <p:cNvSpPr/>
          <p:nvPr/>
        </p:nvSpPr>
        <p:spPr>
          <a:xfrm>
            <a:off x="11277295" y="6473952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C6E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200" kern="0" dirty="0">
                <a:solidFill>
                  <a:srgbClr val="F2C2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CAPABILITY 2 — PRIORITISATION</a:t>
            </a:r>
            <a:endParaRPr lang="en-US" sz="1250" dirty="0"/>
          </a:p>
        </p:txBody>
      </p:sp>
      <p:sp>
        <p:nvSpPr>
          <p:cNvPr id="3" name="Text 1"/>
          <p:cNvSpPr/>
          <p:nvPr/>
        </p:nvSpPr>
        <p:spPr>
          <a:xfrm>
            <a:off x="548640" y="749808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100" b="1" dirty="0">
                <a:solidFill>
                  <a:srgbClr val="1326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Every contact gets a risk score (0–100)</a:t>
            </a:r>
            <a:endParaRPr lang="en-US" sz="3100" dirty="0"/>
          </a:p>
        </p:txBody>
      </p:sp>
      <p:sp>
        <p:nvSpPr>
          <p:cNvPr id="4" name="Text 2"/>
          <p:cNvSpPr/>
          <p:nvPr/>
        </p:nvSpPr>
        <p:spPr>
          <a:xfrm>
            <a:off x="548640" y="1572768"/>
            <a:ext cx="11064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C6E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Behavioural detections combine into a single, sortable risk score so the watch focuses on the contacts that matter most.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548640" y="2240280"/>
            <a:ext cx="5577840" cy="3474720"/>
          </a:xfrm>
          <a:prstGeom prst="roundRect">
            <a:avLst>
              <a:gd name="adj" fmla="val 2368"/>
            </a:avLst>
          </a:prstGeom>
          <a:solidFill>
            <a:srgbClr val="F3F7FB"/>
          </a:solidFill>
          <a:ln/>
          <a:effectLst>
            <a:outerShdw sx="100000" sy="100000" kx="0" ky="0" algn="bl" rotWithShape="0" blurRad="101600" dist="38100" dir="5400000">
              <a:srgbClr val="0A1626">
                <a:alpha val="10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822960" y="2423160"/>
            <a:ext cx="5029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100" kern="0" dirty="0">
                <a:solidFill>
                  <a:srgbClr val="1326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RAISES A SCORE</a:t>
            </a:r>
            <a:endParaRPr lang="en-US" sz="1250" dirty="0"/>
          </a:p>
        </p:txBody>
      </p:sp>
      <p:sp>
        <p:nvSpPr>
          <p:cNvPr id="7" name="Text 5"/>
          <p:cNvSpPr/>
          <p:nvPr/>
        </p:nvSpPr>
        <p:spPr>
          <a:xfrm>
            <a:off x="868680" y="2852928"/>
            <a:ext cx="4114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326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Position spoofing</a:t>
            </a:r>
            <a:endParaRPr lang="en-US" sz="1250" dirty="0"/>
          </a:p>
        </p:txBody>
      </p:sp>
      <p:sp>
        <p:nvSpPr>
          <p:cNvPr id="8" name="Text 6"/>
          <p:cNvSpPr/>
          <p:nvPr/>
        </p:nvSpPr>
        <p:spPr>
          <a:xfrm>
            <a:off x="5029200" y="2852928"/>
            <a:ext cx="868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C810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+40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868680" y="3300984"/>
            <a:ext cx="4114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326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Ship-to-ship rendezvous</a:t>
            </a:r>
            <a:endParaRPr lang="en-US" sz="1250" dirty="0"/>
          </a:p>
        </p:txBody>
      </p:sp>
      <p:sp>
        <p:nvSpPr>
          <p:cNvPr id="10" name="Text 8"/>
          <p:cNvSpPr/>
          <p:nvPr/>
        </p:nvSpPr>
        <p:spPr>
          <a:xfrm>
            <a:off x="5029200" y="3300984"/>
            <a:ext cx="868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C810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+35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868680" y="3749040"/>
            <a:ext cx="4114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326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AIS gap (going dark)</a:t>
            </a:r>
            <a:endParaRPr lang="en-US" sz="1250" dirty="0"/>
          </a:p>
        </p:txBody>
      </p:sp>
      <p:sp>
        <p:nvSpPr>
          <p:cNvPr id="12" name="Text 10"/>
          <p:cNvSpPr/>
          <p:nvPr/>
        </p:nvSpPr>
        <p:spPr>
          <a:xfrm>
            <a:off x="5029200" y="3749040"/>
            <a:ext cx="868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C810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+30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868680" y="4197096"/>
            <a:ext cx="4114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326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Restricted-zone breach</a:t>
            </a:r>
            <a:endParaRPr lang="en-US" sz="1250" dirty="0"/>
          </a:p>
        </p:txBody>
      </p:sp>
      <p:sp>
        <p:nvSpPr>
          <p:cNvPr id="14" name="Text 12"/>
          <p:cNvSpPr/>
          <p:nvPr/>
        </p:nvSpPr>
        <p:spPr>
          <a:xfrm>
            <a:off x="5029200" y="4197096"/>
            <a:ext cx="868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C810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+25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868680" y="4645152"/>
            <a:ext cx="4114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326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Loitering in sensitive zone</a:t>
            </a:r>
            <a:endParaRPr lang="en-US" sz="1250" dirty="0"/>
          </a:p>
        </p:txBody>
      </p:sp>
      <p:sp>
        <p:nvSpPr>
          <p:cNvPr id="16" name="Text 14"/>
          <p:cNvSpPr/>
          <p:nvPr/>
        </p:nvSpPr>
        <p:spPr>
          <a:xfrm>
            <a:off x="5029200" y="4645152"/>
            <a:ext cx="868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C810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+20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868680" y="5093208"/>
            <a:ext cx="4114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326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Unknown / flag-of-convenience</a:t>
            </a:r>
            <a:endParaRPr lang="en-US" sz="1250" dirty="0"/>
          </a:p>
        </p:txBody>
      </p:sp>
      <p:sp>
        <p:nvSpPr>
          <p:cNvPr id="18" name="Text 16"/>
          <p:cNvSpPr/>
          <p:nvPr/>
        </p:nvSpPr>
        <p:spPr>
          <a:xfrm>
            <a:off x="5029200" y="5093208"/>
            <a:ext cx="868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C810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+8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6492240" y="2423160"/>
            <a:ext cx="4572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100" kern="0" dirty="0">
                <a:solidFill>
                  <a:srgbClr val="1326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RISK BANDS</a:t>
            </a:r>
            <a:endParaRPr lang="en-US" sz="1250" dirty="0"/>
          </a:p>
        </p:txBody>
      </p:sp>
      <p:sp>
        <p:nvSpPr>
          <p:cNvPr id="20" name="Shape 18"/>
          <p:cNvSpPr/>
          <p:nvPr/>
        </p:nvSpPr>
        <p:spPr>
          <a:xfrm>
            <a:off x="6492240" y="2852928"/>
            <a:ext cx="5148072" cy="566928"/>
          </a:xfrm>
          <a:prstGeom prst="roundRect">
            <a:avLst>
              <a:gd name="adj" fmla="val 14516"/>
            </a:avLst>
          </a:prstGeom>
          <a:solidFill>
            <a:srgbClr val="FBE4E8"/>
          </a:solidFill>
          <a:ln/>
          <a:effectLst>
            <a:outerShdw sx="100000" sy="100000" kx="0" ky="0" algn="bl" rotWithShape="0" blurRad="101600" dist="38100" dir="5400000">
              <a:srgbClr val="0A1626">
                <a:alpha val="10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6720840" y="2999232"/>
            <a:ext cx="274320" cy="274320"/>
          </a:xfrm>
          <a:prstGeom prst="ellipse">
            <a:avLst/>
          </a:prstGeom>
          <a:solidFill>
            <a:srgbClr val="C8102E"/>
          </a:solidFill>
          <a:ln/>
        </p:spPr>
      </p:sp>
      <p:sp>
        <p:nvSpPr>
          <p:cNvPr id="22" name="Text 20"/>
          <p:cNvSpPr/>
          <p:nvPr/>
        </p:nvSpPr>
        <p:spPr>
          <a:xfrm>
            <a:off x="7132320" y="2852928"/>
            <a:ext cx="27432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326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Critical</a:t>
            </a:r>
            <a:endParaRPr lang="en-US" sz="1500" dirty="0"/>
          </a:p>
        </p:txBody>
      </p:sp>
      <p:sp>
        <p:nvSpPr>
          <p:cNvPr id="23" name="Text 21"/>
          <p:cNvSpPr/>
          <p:nvPr/>
        </p:nvSpPr>
        <p:spPr>
          <a:xfrm>
            <a:off x="9144000" y="2852928"/>
            <a:ext cx="22860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C810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70 – 100</a:t>
            </a:r>
            <a:endParaRPr lang="en-US" sz="1400" dirty="0"/>
          </a:p>
        </p:txBody>
      </p:sp>
      <p:sp>
        <p:nvSpPr>
          <p:cNvPr id="24" name="Shape 22"/>
          <p:cNvSpPr/>
          <p:nvPr/>
        </p:nvSpPr>
        <p:spPr>
          <a:xfrm>
            <a:off x="6492240" y="3529584"/>
            <a:ext cx="5148072" cy="566928"/>
          </a:xfrm>
          <a:prstGeom prst="roundRect">
            <a:avLst>
              <a:gd name="adj" fmla="val 14516"/>
            </a:avLst>
          </a:prstGeom>
          <a:solidFill>
            <a:srgbClr val="FCEFD9"/>
          </a:solidFill>
          <a:ln/>
          <a:effectLst>
            <a:outerShdw sx="100000" sy="100000" kx="0" ky="0" algn="bl" rotWithShape="0" blurRad="101600" dist="38100" dir="5400000">
              <a:srgbClr val="0A1626">
                <a:alpha val="10000"/>
              </a:srgbClr>
            </a:outerShdw>
          </a:effectLst>
        </p:spPr>
      </p:sp>
      <p:sp>
        <p:nvSpPr>
          <p:cNvPr id="25" name="Shape 23"/>
          <p:cNvSpPr/>
          <p:nvPr/>
        </p:nvSpPr>
        <p:spPr>
          <a:xfrm>
            <a:off x="6720840" y="3675888"/>
            <a:ext cx="274320" cy="274320"/>
          </a:xfrm>
          <a:prstGeom prst="ellipse">
            <a:avLst/>
          </a:prstGeom>
          <a:solidFill>
            <a:srgbClr val="E08A00"/>
          </a:solidFill>
          <a:ln/>
        </p:spPr>
      </p:sp>
      <p:sp>
        <p:nvSpPr>
          <p:cNvPr id="26" name="Text 24"/>
          <p:cNvSpPr/>
          <p:nvPr/>
        </p:nvSpPr>
        <p:spPr>
          <a:xfrm>
            <a:off x="7132320" y="3529584"/>
            <a:ext cx="27432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326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High</a:t>
            </a:r>
            <a:endParaRPr lang="en-US" sz="1500" dirty="0"/>
          </a:p>
        </p:txBody>
      </p:sp>
      <p:sp>
        <p:nvSpPr>
          <p:cNvPr id="27" name="Text 25"/>
          <p:cNvSpPr/>
          <p:nvPr/>
        </p:nvSpPr>
        <p:spPr>
          <a:xfrm>
            <a:off x="9144000" y="3529584"/>
            <a:ext cx="22860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E08A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45 – 69</a:t>
            </a:r>
            <a:endParaRPr lang="en-US" sz="1400" dirty="0"/>
          </a:p>
        </p:txBody>
      </p:sp>
      <p:sp>
        <p:nvSpPr>
          <p:cNvPr id="28" name="Shape 26"/>
          <p:cNvSpPr/>
          <p:nvPr/>
        </p:nvSpPr>
        <p:spPr>
          <a:xfrm>
            <a:off x="6492240" y="4206240"/>
            <a:ext cx="5148072" cy="566928"/>
          </a:xfrm>
          <a:prstGeom prst="roundRect">
            <a:avLst>
              <a:gd name="adj" fmla="val 14516"/>
            </a:avLst>
          </a:prstGeom>
          <a:solidFill>
            <a:srgbClr val="FFF6D6"/>
          </a:solidFill>
          <a:ln/>
          <a:effectLst>
            <a:outerShdw sx="100000" sy="100000" kx="0" ky="0" algn="bl" rotWithShape="0" blurRad="101600" dist="38100" dir="5400000">
              <a:srgbClr val="0A1626">
                <a:alpha val="10000"/>
              </a:srgbClr>
            </a:outerShdw>
          </a:effectLst>
        </p:spPr>
      </p:sp>
      <p:sp>
        <p:nvSpPr>
          <p:cNvPr id="29" name="Shape 27"/>
          <p:cNvSpPr/>
          <p:nvPr/>
        </p:nvSpPr>
        <p:spPr>
          <a:xfrm>
            <a:off x="6720840" y="4352544"/>
            <a:ext cx="274320" cy="274320"/>
          </a:xfrm>
          <a:prstGeom prst="ellipse">
            <a:avLst/>
          </a:prstGeom>
          <a:solidFill>
            <a:srgbClr val="B58A00"/>
          </a:solidFill>
          <a:ln/>
        </p:spPr>
      </p:sp>
      <p:sp>
        <p:nvSpPr>
          <p:cNvPr id="30" name="Text 28"/>
          <p:cNvSpPr/>
          <p:nvPr/>
        </p:nvSpPr>
        <p:spPr>
          <a:xfrm>
            <a:off x="7132320" y="4206240"/>
            <a:ext cx="27432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326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Medium</a:t>
            </a:r>
            <a:endParaRPr lang="en-US" sz="1500" dirty="0"/>
          </a:p>
        </p:txBody>
      </p:sp>
      <p:sp>
        <p:nvSpPr>
          <p:cNvPr id="31" name="Text 29"/>
          <p:cNvSpPr/>
          <p:nvPr/>
        </p:nvSpPr>
        <p:spPr>
          <a:xfrm>
            <a:off x="9144000" y="4206240"/>
            <a:ext cx="22860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B58A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20 – 44</a:t>
            </a:r>
            <a:endParaRPr lang="en-US" sz="1400" dirty="0"/>
          </a:p>
        </p:txBody>
      </p:sp>
      <p:sp>
        <p:nvSpPr>
          <p:cNvPr id="32" name="Shape 30"/>
          <p:cNvSpPr/>
          <p:nvPr/>
        </p:nvSpPr>
        <p:spPr>
          <a:xfrm>
            <a:off x="6492240" y="4882896"/>
            <a:ext cx="5148072" cy="566928"/>
          </a:xfrm>
          <a:prstGeom prst="roundRect">
            <a:avLst>
              <a:gd name="adj" fmla="val 14516"/>
            </a:avLst>
          </a:prstGeom>
          <a:solidFill>
            <a:srgbClr val="E7F3EC"/>
          </a:solidFill>
          <a:ln/>
          <a:effectLst>
            <a:outerShdw sx="100000" sy="100000" kx="0" ky="0" algn="bl" rotWithShape="0" blurRad="101600" dist="38100" dir="5400000">
              <a:srgbClr val="0A1626">
                <a:alpha val="10000"/>
              </a:srgbClr>
            </a:outerShdw>
          </a:effectLst>
        </p:spPr>
      </p:sp>
      <p:sp>
        <p:nvSpPr>
          <p:cNvPr id="33" name="Shape 31"/>
          <p:cNvSpPr/>
          <p:nvPr/>
        </p:nvSpPr>
        <p:spPr>
          <a:xfrm>
            <a:off x="6720840" y="5029200"/>
            <a:ext cx="274320" cy="274320"/>
          </a:xfrm>
          <a:prstGeom prst="ellipse">
            <a:avLst/>
          </a:prstGeom>
          <a:solidFill>
            <a:srgbClr val="0B7A3B"/>
          </a:solidFill>
          <a:ln/>
        </p:spPr>
      </p:sp>
      <p:sp>
        <p:nvSpPr>
          <p:cNvPr id="34" name="Text 32"/>
          <p:cNvSpPr/>
          <p:nvPr/>
        </p:nvSpPr>
        <p:spPr>
          <a:xfrm>
            <a:off x="7132320" y="4882896"/>
            <a:ext cx="27432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326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Low</a:t>
            </a:r>
            <a:endParaRPr lang="en-US" sz="1500" dirty="0"/>
          </a:p>
        </p:txBody>
      </p:sp>
      <p:sp>
        <p:nvSpPr>
          <p:cNvPr id="35" name="Text 33"/>
          <p:cNvSpPr/>
          <p:nvPr/>
        </p:nvSpPr>
        <p:spPr>
          <a:xfrm>
            <a:off x="9144000" y="4882896"/>
            <a:ext cx="22860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0B7A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 – 19</a:t>
            </a:r>
            <a:endParaRPr lang="en-US" sz="1400" dirty="0"/>
          </a:p>
        </p:txBody>
      </p:sp>
      <p:sp>
        <p:nvSpPr>
          <p:cNvPr id="36" name="Text 34"/>
          <p:cNvSpPr/>
          <p:nvPr/>
        </p:nvSpPr>
        <p:spPr>
          <a:xfrm>
            <a:off x="54864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326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SeaWatch</a:t>
            </a:r>
            <a:pPr indent="0" marL="0">
              <a:buNone/>
            </a:pPr>
            <a:r>
              <a:rPr lang="en-US" sz="900" dirty="0">
                <a:solidFill>
                  <a:srgbClr val="5C6E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Ghana Navy Maritime Domain Awareness</a:t>
            </a:r>
            <a:endParaRPr lang="en-US" sz="900" dirty="0"/>
          </a:p>
        </p:txBody>
      </p:sp>
      <p:sp>
        <p:nvSpPr>
          <p:cNvPr id="37" name="Text 35"/>
          <p:cNvSpPr/>
          <p:nvPr/>
        </p:nvSpPr>
        <p:spPr>
          <a:xfrm>
            <a:off x="11277295" y="6473952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C6E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200" kern="0" dirty="0">
                <a:solidFill>
                  <a:srgbClr val="0B7A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CAPABILITY 3 — INTER-AGENCY</a:t>
            </a:r>
            <a:endParaRPr lang="en-US" sz="1250" dirty="0"/>
          </a:p>
        </p:txBody>
      </p:sp>
      <p:sp>
        <p:nvSpPr>
          <p:cNvPr id="3" name="Text 1"/>
          <p:cNvSpPr/>
          <p:nvPr/>
        </p:nvSpPr>
        <p:spPr>
          <a:xfrm>
            <a:off x="548640" y="749808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100" b="1" dirty="0">
                <a:solidFill>
                  <a:srgbClr val="1326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Maritime Operations Centres, working as one</a:t>
            </a:r>
            <a:endParaRPr lang="en-US" sz="3100" dirty="0"/>
          </a:p>
        </p:txBody>
      </p:sp>
      <p:sp>
        <p:nvSpPr>
          <p:cNvPr id="4" name="Text 2"/>
          <p:cNvSpPr/>
          <p:nvPr/>
        </p:nvSpPr>
        <p:spPr>
          <a:xfrm>
            <a:off x="548640" y="1572768"/>
            <a:ext cx="11064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C6E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SeaWatch connects Ghana Navy commands with partner agencies on a shared picture — every centre sees, shares and acts together in real time.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548640" y="2103120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00" kern="0" dirty="0">
                <a:solidFill>
                  <a:srgbClr val="5C6E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NINE COMMANDS &amp; PARTNER AGENCIES ON ONE SHARED PICTURE</a:t>
            </a:r>
            <a:endParaRPr lang="en-US" sz="1150" dirty="0"/>
          </a:p>
        </p:txBody>
      </p:sp>
      <p:sp>
        <p:nvSpPr>
          <p:cNvPr id="6" name="Shape 4"/>
          <p:cNvSpPr/>
          <p:nvPr/>
        </p:nvSpPr>
        <p:spPr>
          <a:xfrm>
            <a:off x="548640" y="2487168"/>
            <a:ext cx="3520440" cy="566928"/>
          </a:xfrm>
          <a:prstGeom prst="roundRect">
            <a:avLst>
              <a:gd name="adj" fmla="val 14516"/>
            </a:avLst>
          </a:prstGeom>
          <a:solidFill>
            <a:srgbClr val="EAF1F8"/>
          </a:solidFill>
          <a:ln/>
          <a:effectLst>
            <a:outerShdw sx="100000" sy="100000" kx="0" ky="0" algn="bl" rotWithShape="0" blurRad="101600" dist="38100" dir="5400000">
              <a:srgbClr val="0A1626">
                <a:alpha val="10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804672" y="2697480"/>
            <a:ext cx="164592" cy="164592"/>
          </a:xfrm>
          <a:prstGeom prst="ellipse">
            <a:avLst/>
          </a:prstGeom>
          <a:solidFill>
            <a:srgbClr val="2E6FB0"/>
          </a:solidFill>
          <a:ln/>
        </p:spPr>
      </p:sp>
      <p:sp>
        <p:nvSpPr>
          <p:cNvPr id="8" name="Text 6"/>
          <p:cNvSpPr/>
          <p:nvPr/>
        </p:nvSpPr>
        <p:spPr>
          <a:xfrm>
            <a:off x="1115568" y="2487168"/>
            <a:ext cx="28346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326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NHQ MOC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4297680" y="2487168"/>
            <a:ext cx="3520440" cy="566928"/>
          </a:xfrm>
          <a:prstGeom prst="roundRect">
            <a:avLst>
              <a:gd name="adj" fmla="val 14516"/>
            </a:avLst>
          </a:prstGeom>
          <a:solidFill>
            <a:srgbClr val="EAF1F8"/>
          </a:solidFill>
          <a:ln/>
          <a:effectLst>
            <a:outerShdw sx="100000" sy="100000" kx="0" ky="0" algn="bl" rotWithShape="0" blurRad="101600" dist="38100" dir="5400000">
              <a:srgbClr val="0A1626">
                <a:alpha val="10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4553712" y="2697480"/>
            <a:ext cx="164592" cy="164592"/>
          </a:xfrm>
          <a:prstGeom prst="ellipse">
            <a:avLst/>
          </a:prstGeom>
          <a:solidFill>
            <a:srgbClr val="2E6FB0"/>
          </a:solidFill>
          <a:ln/>
        </p:spPr>
      </p:sp>
      <p:sp>
        <p:nvSpPr>
          <p:cNvPr id="11" name="Text 9"/>
          <p:cNvSpPr/>
          <p:nvPr/>
        </p:nvSpPr>
        <p:spPr>
          <a:xfrm>
            <a:off x="4864608" y="2487168"/>
            <a:ext cx="28346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326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Western Naval Cmd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8046720" y="2487168"/>
            <a:ext cx="3520440" cy="566928"/>
          </a:xfrm>
          <a:prstGeom prst="roundRect">
            <a:avLst>
              <a:gd name="adj" fmla="val 14516"/>
            </a:avLst>
          </a:prstGeom>
          <a:solidFill>
            <a:srgbClr val="EAF1F8"/>
          </a:solidFill>
          <a:ln/>
          <a:effectLst>
            <a:outerShdw sx="100000" sy="100000" kx="0" ky="0" algn="bl" rotWithShape="0" blurRad="101600" dist="38100" dir="5400000">
              <a:srgbClr val="0A1626">
                <a:alpha val="10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8302752" y="2697480"/>
            <a:ext cx="164592" cy="164592"/>
          </a:xfrm>
          <a:prstGeom prst="ellipse">
            <a:avLst/>
          </a:prstGeom>
          <a:solidFill>
            <a:srgbClr val="2E6FB0"/>
          </a:solidFill>
          <a:ln/>
        </p:spPr>
      </p:sp>
      <p:sp>
        <p:nvSpPr>
          <p:cNvPr id="14" name="Text 12"/>
          <p:cNvSpPr/>
          <p:nvPr/>
        </p:nvSpPr>
        <p:spPr>
          <a:xfrm>
            <a:off x="8613648" y="2487168"/>
            <a:ext cx="28346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326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Eastern Naval Cmd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548640" y="3163824"/>
            <a:ext cx="3520440" cy="566928"/>
          </a:xfrm>
          <a:prstGeom prst="roundRect">
            <a:avLst>
              <a:gd name="adj" fmla="val 14516"/>
            </a:avLst>
          </a:prstGeom>
          <a:solidFill>
            <a:srgbClr val="EAF1F8"/>
          </a:solidFill>
          <a:ln/>
          <a:effectLst>
            <a:outerShdw sx="100000" sy="100000" kx="0" ky="0" algn="bl" rotWithShape="0" blurRad="101600" dist="38100" dir="5400000">
              <a:srgbClr val="0A1626">
                <a:alpha val="10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804672" y="3374136"/>
            <a:ext cx="164592" cy="164592"/>
          </a:xfrm>
          <a:prstGeom prst="ellipse">
            <a:avLst/>
          </a:prstGeom>
          <a:solidFill>
            <a:srgbClr val="2E6FB0"/>
          </a:solidFill>
          <a:ln/>
        </p:spPr>
      </p:sp>
      <p:sp>
        <p:nvSpPr>
          <p:cNvPr id="17" name="Text 15"/>
          <p:cNvSpPr/>
          <p:nvPr/>
        </p:nvSpPr>
        <p:spPr>
          <a:xfrm>
            <a:off x="1115568" y="3163824"/>
            <a:ext cx="28346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326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FOB Keta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4297680" y="3163824"/>
            <a:ext cx="3520440" cy="566928"/>
          </a:xfrm>
          <a:prstGeom prst="roundRect">
            <a:avLst>
              <a:gd name="adj" fmla="val 14516"/>
            </a:avLst>
          </a:prstGeom>
          <a:solidFill>
            <a:srgbClr val="EAF1F8"/>
          </a:solidFill>
          <a:ln/>
          <a:effectLst>
            <a:outerShdw sx="100000" sy="100000" kx="0" ky="0" algn="bl" rotWithShape="0" blurRad="101600" dist="38100" dir="5400000">
              <a:srgbClr val="0A1626">
                <a:alpha val="10000"/>
              </a:srgbClr>
            </a:outerShdw>
          </a:effectLst>
        </p:spPr>
      </p:sp>
      <p:sp>
        <p:nvSpPr>
          <p:cNvPr id="19" name="Shape 17"/>
          <p:cNvSpPr/>
          <p:nvPr/>
        </p:nvSpPr>
        <p:spPr>
          <a:xfrm>
            <a:off x="4553712" y="3374136"/>
            <a:ext cx="164592" cy="164592"/>
          </a:xfrm>
          <a:prstGeom prst="ellipse">
            <a:avLst/>
          </a:prstGeom>
          <a:solidFill>
            <a:srgbClr val="2E6FB0"/>
          </a:solidFill>
          <a:ln/>
        </p:spPr>
      </p:sp>
      <p:sp>
        <p:nvSpPr>
          <p:cNvPr id="20" name="Text 18"/>
          <p:cNvSpPr/>
          <p:nvPr/>
        </p:nvSpPr>
        <p:spPr>
          <a:xfrm>
            <a:off x="4864608" y="3163824"/>
            <a:ext cx="28346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326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FOB Ezinlibo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8046720" y="3163824"/>
            <a:ext cx="3520440" cy="566928"/>
          </a:xfrm>
          <a:prstGeom prst="roundRect">
            <a:avLst>
              <a:gd name="adj" fmla="val 14516"/>
            </a:avLst>
          </a:prstGeom>
          <a:solidFill>
            <a:srgbClr val="EAF1F8"/>
          </a:solidFill>
          <a:ln/>
          <a:effectLst>
            <a:outerShdw sx="100000" sy="100000" kx="0" ky="0" algn="bl" rotWithShape="0" blurRad="101600" dist="38100" dir="5400000">
              <a:srgbClr val="0A1626">
                <a:alpha val="10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8302752" y="3374136"/>
            <a:ext cx="164592" cy="164592"/>
          </a:xfrm>
          <a:prstGeom prst="ellipse">
            <a:avLst/>
          </a:prstGeom>
          <a:solidFill>
            <a:srgbClr val="2E6FB0"/>
          </a:solidFill>
          <a:ln/>
        </p:spPr>
      </p:sp>
      <p:sp>
        <p:nvSpPr>
          <p:cNvPr id="23" name="Text 21"/>
          <p:cNvSpPr/>
          <p:nvPr/>
        </p:nvSpPr>
        <p:spPr>
          <a:xfrm>
            <a:off x="8613648" y="3163824"/>
            <a:ext cx="28346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326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MMCC Zone F</a:t>
            </a:r>
            <a:endParaRPr lang="en-US" sz="1300" dirty="0"/>
          </a:p>
        </p:txBody>
      </p:sp>
      <p:sp>
        <p:nvSpPr>
          <p:cNvPr id="24" name="Shape 22"/>
          <p:cNvSpPr/>
          <p:nvPr/>
        </p:nvSpPr>
        <p:spPr>
          <a:xfrm>
            <a:off x="548640" y="3840480"/>
            <a:ext cx="3520440" cy="566928"/>
          </a:xfrm>
          <a:prstGeom prst="roundRect">
            <a:avLst>
              <a:gd name="adj" fmla="val 14516"/>
            </a:avLst>
          </a:prstGeom>
          <a:solidFill>
            <a:srgbClr val="F0F7F1"/>
          </a:solidFill>
          <a:ln/>
          <a:effectLst>
            <a:outerShdw sx="100000" sy="100000" kx="0" ky="0" algn="bl" rotWithShape="0" blurRad="101600" dist="38100" dir="5400000">
              <a:srgbClr val="0A1626">
                <a:alpha val="10000"/>
              </a:srgbClr>
            </a:outerShdw>
          </a:effectLst>
        </p:spPr>
      </p:sp>
      <p:sp>
        <p:nvSpPr>
          <p:cNvPr id="25" name="Shape 23"/>
          <p:cNvSpPr/>
          <p:nvPr/>
        </p:nvSpPr>
        <p:spPr>
          <a:xfrm>
            <a:off x="804672" y="4050792"/>
            <a:ext cx="164592" cy="164592"/>
          </a:xfrm>
          <a:prstGeom prst="ellipse">
            <a:avLst/>
          </a:prstGeom>
          <a:solidFill>
            <a:srgbClr val="0B7A3B"/>
          </a:solidFill>
          <a:ln/>
        </p:spPr>
      </p:sp>
      <p:sp>
        <p:nvSpPr>
          <p:cNvPr id="26" name="Text 24"/>
          <p:cNvSpPr/>
          <p:nvPr/>
        </p:nvSpPr>
        <p:spPr>
          <a:xfrm>
            <a:off x="1115568" y="3840480"/>
            <a:ext cx="28346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326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VTMIS (GMA)</a:t>
            </a:r>
            <a:endParaRPr lang="en-US" sz="1300" dirty="0"/>
          </a:p>
        </p:txBody>
      </p:sp>
      <p:sp>
        <p:nvSpPr>
          <p:cNvPr id="27" name="Shape 25"/>
          <p:cNvSpPr/>
          <p:nvPr/>
        </p:nvSpPr>
        <p:spPr>
          <a:xfrm>
            <a:off x="4297680" y="3840480"/>
            <a:ext cx="3520440" cy="566928"/>
          </a:xfrm>
          <a:prstGeom prst="roundRect">
            <a:avLst>
              <a:gd name="adj" fmla="val 14516"/>
            </a:avLst>
          </a:prstGeom>
          <a:solidFill>
            <a:srgbClr val="F0F7F1"/>
          </a:solidFill>
          <a:ln/>
          <a:effectLst>
            <a:outerShdw sx="100000" sy="100000" kx="0" ky="0" algn="bl" rotWithShape="0" blurRad="101600" dist="38100" dir="5400000">
              <a:srgbClr val="0A1626">
                <a:alpha val="10000"/>
              </a:srgbClr>
            </a:outerShdw>
          </a:effectLst>
        </p:spPr>
      </p:sp>
      <p:sp>
        <p:nvSpPr>
          <p:cNvPr id="28" name="Shape 26"/>
          <p:cNvSpPr/>
          <p:nvPr/>
        </p:nvSpPr>
        <p:spPr>
          <a:xfrm>
            <a:off x="4553712" y="4050792"/>
            <a:ext cx="164592" cy="164592"/>
          </a:xfrm>
          <a:prstGeom prst="ellipse">
            <a:avLst/>
          </a:prstGeom>
          <a:solidFill>
            <a:srgbClr val="0B7A3B"/>
          </a:solidFill>
          <a:ln/>
        </p:spPr>
      </p:sp>
      <p:sp>
        <p:nvSpPr>
          <p:cNvPr id="29" name="Text 27"/>
          <p:cNvSpPr/>
          <p:nvPr/>
        </p:nvSpPr>
        <p:spPr>
          <a:xfrm>
            <a:off x="4864608" y="3840480"/>
            <a:ext cx="28346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326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MRCC</a:t>
            </a:r>
            <a:endParaRPr lang="en-US" sz="1300" dirty="0"/>
          </a:p>
        </p:txBody>
      </p:sp>
      <p:sp>
        <p:nvSpPr>
          <p:cNvPr id="30" name="Shape 28"/>
          <p:cNvSpPr/>
          <p:nvPr/>
        </p:nvSpPr>
        <p:spPr>
          <a:xfrm>
            <a:off x="8046720" y="3840480"/>
            <a:ext cx="3520440" cy="566928"/>
          </a:xfrm>
          <a:prstGeom prst="roundRect">
            <a:avLst>
              <a:gd name="adj" fmla="val 14516"/>
            </a:avLst>
          </a:prstGeom>
          <a:solidFill>
            <a:srgbClr val="F0F7F1"/>
          </a:solidFill>
          <a:ln/>
          <a:effectLst>
            <a:outerShdw sx="100000" sy="100000" kx="0" ky="0" algn="bl" rotWithShape="0" blurRad="101600" dist="38100" dir="5400000">
              <a:srgbClr val="0A1626">
                <a:alpha val="10000"/>
              </a:srgbClr>
            </a:outerShdw>
          </a:effectLst>
        </p:spPr>
      </p:sp>
      <p:sp>
        <p:nvSpPr>
          <p:cNvPr id="31" name="Shape 29"/>
          <p:cNvSpPr/>
          <p:nvPr/>
        </p:nvSpPr>
        <p:spPr>
          <a:xfrm>
            <a:off x="8302752" y="4050792"/>
            <a:ext cx="164592" cy="164592"/>
          </a:xfrm>
          <a:prstGeom prst="ellipse">
            <a:avLst/>
          </a:prstGeom>
          <a:solidFill>
            <a:srgbClr val="0B7A3B"/>
          </a:solidFill>
          <a:ln/>
        </p:spPr>
      </p:sp>
      <p:sp>
        <p:nvSpPr>
          <p:cNvPr id="32" name="Text 30"/>
          <p:cNvSpPr/>
          <p:nvPr/>
        </p:nvSpPr>
        <p:spPr>
          <a:xfrm>
            <a:off x="8613648" y="3840480"/>
            <a:ext cx="28346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326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Fisheries MCC</a:t>
            </a:r>
            <a:endParaRPr lang="en-US" sz="1300" dirty="0"/>
          </a:p>
        </p:txBody>
      </p:sp>
      <p:sp>
        <p:nvSpPr>
          <p:cNvPr id="33" name="Shape 31"/>
          <p:cNvSpPr/>
          <p:nvPr/>
        </p:nvSpPr>
        <p:spPr>
          <a:xfrm>
            <a:off x="548640" y="4736592"/>
            <a:ext cx="3520440" cy="1234440"/>
          </a:xfrm>
          <a:prstGeom prst="roundRect">
            <a:avLst>
              <a:gd name="adj" fmla="val 6667"/>
            </a:avLst>
          </a:prstGeom>
          <a:solidFill>
            <a:srgbClr val="FFF6D6"/>
          </a:solidFill>
          <a:ln/>
          <a:effectLst>
            <a:outerShdw sx="100000" sy="100000" kx="0" ky="0" algn="bl" rotWithShape="0" blurRad="101600" dist="38100" dir="5400000">
              <a:srgbClr val="0A1626">
                <a:alpha val="10000"/>
              </a:srgbClr>
            </a:outerShdw>
          </a:effectLst>
        </p:spPr>
      </p:sp>
      <p:sp>
        <p:nvSpPr>
          <p:cNvPr id="34" name="Text 32"/>
          <p:cNvSpPr/>
          <p:nvPr/>
        </p:nvSpPr>
        <p:spPr>
          <a:xfrm>
            <a:off x="822960" y="4882896"/>
            <a:ext cx="3017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326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Shared incidents</a:t>
            </a:r>
            <a:endParaRPr lang="en-US" sz="1450" dirty="0"/>
          </a:p>
        </p:txBody>
      </p:sp>
      <p:sp>
        <p:nvSpPr>
          <p:cNvPr id="35" name="Text 33"/>
          <p:cNvSpPr/>
          <p:nvPr/>
        </p:nvSpPr>
        <p:spPr>
          <a:xfrm>
            <a:off x="822960" y="5266944"/>
            <a:ext cx="30175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5C6E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Report once; the institutions you choose are notified instantly.</a:t>
            </a:r>
            <a:endParaRPr lang="en-US" sz="1150" dirty="0"/>
          </a:p>
        </p:txBody>
      </p:sp>
      <p:sp>
        <p:nvSpPr>
          <p:cNvPr id="36" name="Shape 34"/>
          <p:cNvSpPr/>
          <p:nvPr/>
        </p:nvSpPr>
        <p:spPr>
          <a:xfrm>
            <a:off x="4297680" y="4736592"/>
            <a:ext cx="3520440" cy="1234440"/>
          </a:xfrm>
          <a:prstGeom prst="roundRect">
            <a:avLst>
              <a:gd name="adj" fmla="val 6667"/>
            </a:avLst>
          </a:prstGeom>
          <a:solidFill>
            <a:srgbClr val="FFF6D6"/>
          </a:solidFill>
          <a:ln/>
          <a:effectLst>
            <a:outerShdw sx="100000" sy="100000" kx="0" ky="0" algn="bl" rotWithShape="0" blurRad="101600" dist="38100" dir="5400000">
              <a:srgbClr val="0A1626">
                <a:alpha val="10000"/>
              </a:srgbClr>
            </a:outerShdw>
          </a:effectLst>
        </p:spPr>
      </p:sp>
      <p:sp>
        <p:nvSpPr>
          <p:cNvPr id="37" name="Text 35"/>
          <p:cNvSpPr/>
          <p:nvPr/>
        </p:nvSpPr>
        <p:spPr>
          <a:xfrm>
            <a:off x="4572000" y="4882896"/>
            <a:ext cx="3017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326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Live discussion threads</a:t>
            </a:r>
            <a:endParaRPr lang="en-US" sz="1450" dirty="0"/>
          </a:p>
        </p:txBody>
      </p:sp>
      <p:sp>
        <p:nvSpPr>
          <p:cNvPr id="38" name="Text 36"/>
          <p:cNvSpPr/>
          <p:nvPr/>
        </p:nvSpPr>
        <p:spPr>
          <a:xfrm>
            <a:off x="4572000" y="5266944"/>
            <a:ext cx="30175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5C6E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Comment &amp; react on each incident in a continuous chat — a shared ops room.</a:t>
            </a:r>
            <a:endParaRPr lang="en-US" sz="1150" dirty="0"/>
          </a:p>
        </p:txBody>
      </p:sp>
      <p:sp>
        <p:nvSpPr>
          <p:cNvPr id="39" name="Shape 37"/>
          <p:cNvSpPr/>
          <p:nvPr/>
        </p:nvSpPr>
        <p:spPr>
          <a:xfrm>
            <a:off x="8046720" y="4736592"/>
            <a:ext cx="3520440" cy="1234440"/>
          </a:xfrm>
          <a:prstGeom prst="roundRect">
            <a:avLst>
              <a:gd name="adj" fmla="val 6667"/>
            </a:avLst>
          </a:prstGeom>
          <a:solidFill>
            <a:srgbClr val="FFF6D6"/>
          </a:solidFill>
          <a:ln/>
          <a:effectLst>
            <a:outerShdw sx="100000" sy="100000" kx="0" ky="0" algn="bl" rotWithShape="0" blurRad="101600" dist="38100" dir="5400000">
              <a:srgbClr val="0A1626">
                <a:alpha val="10000"/>
              </a:srgbClr>
            </a:outerShdw>
          </a:effectLst>
        </p:spPr>
      </p:sp>
      <p:sp>
        <p:nvSpPr>
          <p:cNvPr id="40" name="Text 38"/>
          <p:cNvSpPr/>
          <p:nvPr/>
        </p:nvSpPr>
        <p:spPr>
          <a:xfrm>
            <a:off x="8321040" y="4882896"/>
            <a:ext cx="3017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326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Tasking</a:t>
            </a:r>
            <a:endParaRPr lang="en-US" sz="1450" dirty="0"/>
          </a:p>
        </p:txBody>
      </p:sp>
      <p:sp>
        <p:nvSpPr>
          <p:cNvPr id="41" name="Text 39"/>
          <p:cNvSpPr/>
          <p:nvPr/>
        </p:nvSpPr>
        <p:spPr>
          <a:xfrm>
            <a:off x="8321040" y="5266944"/>
            <a:ext cx="30175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5C6E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Assign assets to investigate a contact and track status to completion.</a:t>
            </a:r>
            <a:endParaRPr lang="en-US" sz="1150" dirty="0"/>
          </a:p>
        </p:txBody>
      </p:sp>
      <p:sp>
        <p:nvSpPr>
          <p:cNvPr id="42" name="Text 40"/>
          <p:cNvSpPr/>
          <p:nvPr/>
        </p:nvSpPr>
        <p:spPr>
          <a:xfrm>
            <a:off x="54864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326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SeaWatch</a:t>
            </a:r>
            <a:pPr indent="0" marL="0">
              <a:buNone/>
            </a:pPr>
            <a:r>
              <a:rPr lang="en-US" sz="900" dirty="0">
                <a:solidFill>
                  <a:srgbClr val="5C6E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Ghana Navy Maritime Domain Awareness</a:t>
            </a:r>
            <a:endParaRPr lang="en-US" sz="900" dirty="0"/>
          </a:p>
        </p:txBody>
      </p:sp>
      <p:sp>
        <p:nvSpPr>
          <p:cNvPr id="43" name="Text 41"/>
          <p:cNvSpPr/>
          <p:nvPr/>
        </p:nvSpPr>
        <p:spPr>
          <a:xfrm>
            <a:off x="11277295" y="6473952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C6E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200" kern="0" dirty="0">
                <a:solidFill>
                  <a:srgbClr val="1B9E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CAPABILITY 4 — GEOFENCING</a:t>
            </a:r>
            <a:endParaRPr lang="en-US" sz="1250" dirty="0"/>
          </a:p>
        </p:txBody>
      </p:sp>
      <p:sp>
        <p:nvSpPr>
          <p:cNvPr id="3" name="Text 1"/>
          <p:cNvSpPr/>
          <p:nvPr/>
        </p:nvSpPr>
        <p:spPr>
          <a:xfrm>
            <a:off x="548640" y="749808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100" b="1" dirty="0">
                <a:solidFill>
                  <a:srgbClr val="1326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Maritime zones &amp; areas of interest</a:t>
            </a:r>
            <a:endParaRPr lang="en-US" sz="3100" dirty="0"/>
          </a:p>
        </p:txBody>
      </p:sp>
      <p:sp>
        <p:nvSpPr>
          <p:cNvPr id="4" name="Shape 2"/>
          <p:cNvSpPr/>
          <p:nvPr/>
        </p:nvSpPr>
        <p:spPr>
          <a:xfrm>
            <a:off x="548640" y="1828800"/>
            <a:ext cx="5394960" cy="1737360"/>
          </a:xfrm>
          <a:prstGeom prst="roundRect">
            <a:avLst>
              <a:gd name="adj" fmla="val 4737"/>
            </a:avLst>
          </a:prstGeom>
          <a:solidFill>
            <a:srgbClr val="F3F7FB"/>
          </a:solidFill>
          <a:ln/>
          <a:effectLst>
            <a:outerShdw sx="100000" sy="100000" kx="0" ky="0" algn="bl" rotWithShape="0" blurRad="101600" dist="38100" dir="5400000">
              <a:srgbClr val="0A1626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841248" y="2121408"/>
            <a:ext cx="310896" cy="310896"/>
          </a:xfrm>
          <a:prstGeom prst="ellipse">
            <a:avLst/>
          </a:prstGeom>
          <a:solidFill>
            <a:srgbClr val="B58A00"/>
          </a:solidFill>
          <a:ln/>
        </p:spPr>
      </p:sp>
      <p:sp>
        <p:nvSpPr>
          <p:cNvPr id="6" name="Text 4"/>
          <p:cNvSpPr/>
          <p:nvPr/>
        </p:nvSpPr>
        <p:spPr>
          <a:xfrm>
            <a:off x="1325880" y="2048256"/>
            <a:ext cx="4389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1326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Ghana EEZ &amp; Territorial Sea</a:t>
            </a:r>
            <a:endParaRPr lang="en-US" sz="1650" dirty="0"/>
          </a:p>
        </p:txBody>
      </p:sp>
      <p:sp>
        <p:nvSpPr>
          <p:cNvPr id="7" name="Text 5"/>
          <p:cNvSpPr/>
          <p:nvPr/>
        </p:nvSpPr>
        <p:spPr>
          <a:xfrm>
            <a:off x="868680" y="2606040"/>
            <a:ext cx="48463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5C6E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200 NM economic zone and 12 NM sovereign waters delineated and monitored.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6172200" y="1828800"/>
            <a:ext cx="5394960" cy="1737360"/>
          </a:xfrm>
          <a:prstGeom prst="roundRect">
            <a:avLst>
              <a:gd name="adj" fmla="val 4737"/>
            </a:avLst>
          </a:prstGeom>
          <a:solidFill>
            <a:srgbClr val="F3F7FB"/>
          </a:solidFill>
          <a:ln/>
          <a:effectLst>
            <a:outerShdw sx="100000" sy="100000" kx="0" ky="0" algn="bl" rotWithShape="0" blurRad="101600" dist="38100" dir="5400000">
              <a:srgbClr val="0A1626">
                <a:alpha val="10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6464808" y="2121408"/>
            <a:ext cx="310896" cy="310896"/>
          </a:xfrm>
          <a:prstGeom prst="ellipse">
            <a:avLst/>
          </a:prstGeom>
          <a:solidFill>
            <a:srgbClr val="E08A00"/>
          </a:solidFill>
          <a:ln/>
        </p:spPr>
      </p:sp>
      <p:sp>
        <p:nvSpPr>
          <p:cNvPr id="10" name="Text 8"/>
          <p:cNvSpPr/>
          <p:nvPr/>
        </p:nvSpPr>
        <p:spPr>
          <a:xfrm>
            <a:off x="6949440" y="2048256"/>
            <a:ext cx="4389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1326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Offshore oil fields</a:t>
            </a:r>
            <a:endParaRPr lang="en-US" sz="1650" dirty="0"/>
          </a:p>
        </p:txBody>
      </p:sp>
      <p:sp>
        <p:nvSpPr>
          <p:cNvPr id="11" name="Text 9"/>
          <p:cNvSpPr/>
          <p:nvPr/>
        </p:nvSpPr>
        <p:spPr>
          <a:xfrm>
            <a:off x="6492240" y="2606040"/>
            <a:ext cx="48463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5C6E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Jubilee, TEN and Sankofa safety zones with incursion alerting around FPSOs.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548640" y="3794760"/>
            <a:ext cx="5394960" cy="1737360"/>
          </a:xfrm>
          <a:prstGeom prst="roundRect">
            <a:avLst>
              <a:gd name="adj" fmla="val 4737"/>
            </a:avLst>
          </a:prstGeom>
          <a:solidFill>
            <a:srgbClr val="F3F7FB"/>
          </a:solidFill>
          <a:ln/>
          <a:effectLst>
            <a:outerShdw sx="100000" sy="100000" kx="0" ky="0" algn="bl" rotWithShape="0" blurRad="101600" dist="38100" dir="5400000">
              <a:srgbClr val="0A1626">
                <a:alpha val="10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841248" y="4087368"/>
            <a:ext cx="310896" cy="310896"/>
          </a:xfrm>
          <a:prstGeom prst="ellipse">
            <a:avLst/>
          </a:prstGeom>
          <a:solidFill>
            <a:srgbClr val="0B7A3B"/>
          </a:solidFill>
          <a:ln/>
        </p:spPr>
      </p:sp>
      <p:sp>
        <p:nvSpPr>
          <p:cNvPr id="14" name="Text 12"/>
          <p:cNvSpPr/>
          <p:nvPr/>
        </p:nvSpPr>
        <p:spPr>
          <a:xfrm>
            <a:off x="1325880" y="4014216"/>
            <a:ext cx="4389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1326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Fishing grounds</a:t>
            </a:r>
            <a:endParaRPr lang="en-US" sz="1650" dirty="0"/>
          </a:p>
        </p:txBody>
      </p:sp>
      <p:sp>
        <p:nvSpPr>
          <p:cNvPr id="15" name="Text 13"/>
          <p:cNvSpPr/>
          <p:nvPr/>
        </p:nvSpPr>
        <p:spPr>
          <a:xfrm>
            <a:off x="868680" y="4572000"/>
            <a:ext cx="48463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5C6E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Inshore artisanal zone protected from trawler incursion (IUU detection).</a:t>
            </a:r>
            <a:endParaRPr lang="en-US" sz="1250" dirty="0"/>
          </a:p>
        </p:txBody>
      </p:sp>
      <p:sp>
        <p:nvSpPr>
          <p:cNvPr id="16" name="Shape 14"/>
          <p:cNvSpPr/>
          <p:nvPr/>
        </p:nvSpPr>
        <p:spPr>
          <a:xfrm>
            <a:off x="6172200" y="3794760"/>
            <a:ext cx="5394960" cy="1737360"/>
          </a:xfrm>
          <a:prstGeom prst="roundRect">
            <a:avLst>
              <a:gd name="adj" fmla="val 4737"/>
            </a:avLst>
          </a:prstGeom>
          <a:solidFill>
            <a:srgbClr val="F3F7FB"/>
          </a:solidFill>
          <a:ln/>
          <a:effectLst>
            <a:outerShdw sx="100000" sy="100000" kx="0" ky="0" algn="bl" rotWithShape="0" blurRad="101600" dist="38100" dir="5400000">
              <a:srgbClr val="0A1626">
                <a:alpha val="10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6464808" y="4087368"/>
            <a:ext cx="310896" cy="310896"/>
          </a:xfrm>
          <a:prstGeom prst="ellipse">
            <a:avLst/>
          </a:prstGeom>
          <a:solidFill>
            <a:srgbClr val="C8102E"/>
          </a:solidFill>
          <a:ln/>
        </p:spPr>
      </p:sp>
      <p:sp>
        <p:nvSpPr>
          <p:cNvPr id="18" name="Text 16"/>
          <p:cNvSpPr/>
          <p:nvPr/>
        </p:nvSpPr>
        <p:spPr>
          <a:xfrm>
            <a:off x="6949440" y="4014216"/>
            <a:ext cx="4389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1326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Areas of Interest</a:t>
            </a:r>
            <a:endParaRPr lang="en-US" sz="1650" dirty="0"/>
          </a:p>
        </p:txBody>
      </p:sp>
      <p:sp>
        <p:nvSpPr>
          <p:cNvPr id="19" name="Text 17"/>
          <p:cNvSpPr/>
          <p:nvPr/>
        </p:nvSpPr>
        <p:spPr>
          <a:xfrm>
            <a:off x="6492240" y="4572000"/>
            <a:ext cx="48463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5C6E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Piracy / armed-robbery watch boxes and IUU hotspots, fully configurable.</a:t>
            </a:r>
            <a:endParaRPr lang="en-US" sz="1250" dirty="0"/>
          </a:p>
        </p:txBody>
      </p:sp>
      <p:sp>
        <p:nvSpPr>
          <p:cNvPr id="20" name="Text 18"/>
          <p:cNvSpPr/>
          <p:nvPr/>
        </p:nvSpPr>
        <p:spPr>
          <a:xfrm>
            <a:off x="548640" y="580644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i="1" dirty="0">
                <a:solidFill>
                  <a:srgbClr val="5C6E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On-screen tools measure distance &amp; bearing, drop range rings, and draw search areas — directly on the live picture.</a:t>
            </a:r>
            <a:endParaRPr lang="en-US" sz="1150" dirty="0"/>
          </a:p>
        </p:txBody>
      </p:sp>
      <p:sp>
        <p:nvSpPr>
          <p:cNvPr id="21" name="Text 19"/>
          <p:cNvSpPr/>
          <p:nvPr/>
        </p:nvSpPr>
        <p:spPr>
          <a:xfrm>
            <a:off x="54864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326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SeaWatch</a:t>
            </a:r>
            <a:pPr indent="0" marL="0">
              <a:buNone/>
            </a:pPr>
            <a:r>
              <a:rPr lang="en-US" sz="900" dirty="0">
                <a:solidFill>
                  <a:srgbClr val="5C6E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Ghana Navy Maritime Domain Awareness</a:t>
            </a:r>
            <a:endParaRPr lang="en-US" sz="900" dirty="0"/>
          </a:p>
        </p:txBody>
      </p:sp>
      <p:sp>
        <p:nvSpPr>
          <p:cNvPr id="22" name="Text 20"/>
          <p:cNvSpPr/>
          <p:nvPr/>
        </p:nvSpPr>
        <p:spPr>
          <a:xfrm>
            <a:off x="11277295" y="6473952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C6E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200" kern="0" dirty="0">
                <a:solidFill>
                  <a:srgbClr val="2E6F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CAPABILITY 5 — GOVERNANCE</a:t>
            </a:r>
            <a:endParaRPr lang="en-US" sz="1250" dirty="0"/>
          </a:p>
        </p:txBody>
      </p:sp>
      <p:sp>
        <p:nvSpPr>
          <p:cNvPr id="3" name="Text 1"/>
          <p:cNvSpPr/>
          <p:nvPr/>
        </p:nvSpPr>
        <p:spPr>
          <a:xfrm>
            <a:off x="548640" y="749808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100" b="1" dirty="0">
                <a:solidFill>
                  <a:srgbClr val="1326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Command structure, access &amp; accountability</a:t>
            </a:r>
            <a:endParaRPr lang="en-US" sz="3100" dirty="0"/>
          </a:p>
        </p:txBody>
      </p:sp>
      <p:sp>
        <p:nvSpPr>
          <p:cNvPr id="4" name="Text 2"/>
          <p:cNvSpPr/>
          <p:nvPr/>
        </p:nvSpPr>
        <p:spPr>
          <a:xfrm>
            <a:off x="548640" y="169164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100" kern="0" dirty="0">
                <a:solidFill>
                  <a:srgbClr val="1326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ROLE-BASED ACCESS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548640" y="2121408"/>
            <a:ext cx="5486400" cy="603504"/>
          </a:xfrm>
          <a:prstGeom prst="roundRect">
            <a:avLst>
              <a:gd name="adj" fmla="val 13636"/>
            </a:avLst>
          </a:prstGeom>
          <a:solidFill>
            <a:srgbClr val="FFF6D6"/>
          </a:solidFill>
          <a:ln/>
          <a:effectLst>
            <a:outerShdw sx="100000" sy="100000" kx="0" ky="0" algn="bl" rotWithShape="0" blurRad="101600" dist="38100" dir="5400000">
              <a:srgbClr val="0A1626">
                <a:alpha val="10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822960" y="2121408"/>
            <a:ext cx="237744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326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Director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3108960" y="2121408"/>
            <a:ext cx="274320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C6E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 command &amp; administration</a:t>
            </a:r>
            <a:endParaRPr lang="en-US" sz="1150" dirty="0"/>
          </a:p>
        </p:txBody>
      </p:sp>
      <p:sp>
        <p:nvSpPr>
          <p:cNvPr id="8" name="Shape 6"/>
          <p:cNvSpPr/>
          <p:nvPr/>
        </p:nvSpPr>
        <p:spPr>
          <a:xfrm>
            <a:off x="548640" y="2834640"/>
            <a:ext cx="5486400" cy="603504"/>
          </a:xfrm>
          <a:prstGeom prst="roundRect">
            <a:avLst>
              <a:gd name="adj" fmla="val 13636"/>
            </a:avLst>
          </a:prstGeom>
          <a:solidFill>
            <a:srgbClr val="F3F7FB"/>
          </a:solidFill>
          <a:ln/>
          <a:effectLst>
            <a:outerShdw sx="100000" sy="100000" kx="0" ky="0" algn="bl" rotWithShape="0" blurRad="101600" dist="38100" dir="5400000">
              <a:srgbClr val="0A1626">
                <a:alpha val="10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822960" y="2834640"/>
            <a:ext cx="237744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326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Deputy Director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3108960" y="2834640"/>
            <a:ext cx="274320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C6E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Oversight &amp; audit</a:t>
            </a:r>
            <a:endParaRPr lang="en-US" sz="1150" dirty="0"/>
          </a:p>
        </p:txBody>
      </p:sp>
      <p:sp>
        <p:nvSpPr>
          <p:cNvPr id="11" name="Shape 9"/>
          <p:cNvSpPr/>
          <p:nvPr/>
        </p:nvSpPr>
        <p:spPr>
          <a:xfrm>
            <a:off x="548640" y="3547872"/>
            <a:ext cx="5486400" cy="603504"/>
          </a:xfrm>
          <a:prstGeom prst="roundRect">
            <a:avLst>
              <a:gd name="adj" fmla="val 13636"/>
            </a:avLst>
          </a:prstGeom>
          <a:solidFill>
            <a:srgbClr val="F3F7FB"/>
          </a:solidFill>
          <a:ln/>
          <a:effectLst>
            <a:outerShdw sx="100000" sy="100000" kx="0" ky="0" algn="bl" rotWithShape="0" blurRad="101600" dist="38100" dir="5400000">
              <a:srgbClr val="0A1626">
                <a:alpha val="10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822960" y="3547872"/>
            <a:ext cx="237744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326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Officer in Charge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3108960" y="3547872"/>
            <a:ext cx="274320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C6E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Watch command &amp; audit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548640" y="4261104"/>
            <a:ext cx="5486400" cy="603504"/>
          </a:xfrm>
          <a:prstGeom prst="roundRect">
            <a:avLst>
              <a:gd name="adj" fmla="val 13636"/>
            </a:avLst>
          </a:prstGeom>
          <a:solidFill>
            <a:srgbClr val="F3F7FB"/>
          </a:solidFill>
          <a:ln/>
          <a:effectLst>
            <a:outerShdw sx="100000" sy="100000" kx="0" ky="0" algn="bl" rotWithShape="0" blurRad="101600" dist="38100" dir="5400000">
              <a:srgbClr val="0A1626">
                <a:alpha val="10000"/>
              </a:srgbClr>
            </a:outerShdw>
          </a:effectLst>
        </p:spPr>
      </p:sp>
      <p:sp>
        <p:nvSpPr>
          <p:cNvPr id="15" name="Text 13"/>
          <p:cNvSpPr/>
          <p:nvPr/>
        </p:nvSpPr>
        <p:spPr>
          <a:xfrm>
            <a:off x="822960" y="4261104"/>
            <a:ext cx="237744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326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Supervisor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3108960" y="4261104"/>
            <a:ext cx="274320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C6E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Resolve alerts, task assets</a:t>
            </a:r>
            <a:endParaRPr lang="en-US" sz="1150" dirty="0"/>
          </a:p>
        </p:txBody>
      </p:sp>
      <p:sp>
        <p:nvSpPr>
          <p:cNvPr id="17" name="Shape 15"/>
          <p:cNvSpPr/>
          <p:nvPr/>
        </p:nvSpPr>
        <p:spPr>
          <a:xfrm>
            <a:off x="548640" y="4974336"/>
            <a:ext cx="5486400" cy="603504"/>
          </a:xfrm>
          <a:prstGeom prst="roundRect">
            <a:avLst>
              <a:gd name="adj" fmla="val 13636"/>
            </a:avLst>
          </a:prstGeom>
          <a:solidFill>
            <a:srgbClr val="F3F7FB"/>
          </a:solidFill>
          <a:ln/>
          <a:effectLst>
            <a:outerShdw sx="100000" sy="100000" kx="0" ky="0" algn="bl" rotWithShape="0" blurRad="101600" dist="38100" dir="5400000">
              <a:srgbClr val="0A1626">
                <a:alpha val="10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822960" y="4974336"/>
            <a:ext cx="237744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326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Watchkeeper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3108960" y="4974336"/>
            <a:ext cx="274320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C6E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Monitor, acknowledge, report</a:t>
            </a:r>
            <a:endParaRPr lang="en-US" sz="1150" dirty="0"/>
          </a:p>
        </p:txBody>
      </p:sp>
      <p:sp>
        <p:nvSpPr>
          <p:cNvPr id="20" name="Shape 18"/>
          <p:cNvSpPr/>
          <p:nvPr/>
        </p:nvSpPr>
        <p:spPr>
          <a:xfrm>
            <a:off x="6400800" y="1783080"/>
            <a:ext cx="5239512" cy="877824"/>
          </a:xfrm>
          <a:prstGeom prst="roundRect">
            <a:avLst>
              <a:gd name="adj" fmla="val 9375"/>
            </a:avLst>
          </a:prstGeom>
          <a:solidFill>
            <a:srgbClr val="F0F7F1"/>
          </a:solidFill>
          <a:ln/>
          <a:effectLst>
            <a:outerShdw sx="100000" sy="100000" kx="0" ky="0" algn="bl" rotWithShape="0" blurRad="101600" dist="38100" dir="5400000">
              <a:srgbClr val="0A1626">
                <a:alpha val="10000"/>
              </a:srgbClr>
            </a:outerShdw>
          </a:effectLst>
        </p:spPr>
      </p:sp>
      <p:sp>
        <p:nvSpPr>
          <p:cNvPr id="21" name="Text 19"/>
          <p:cNvSpPr/>
          <p:nvPr/>
        </p:nvSpPr>
        <p:spPr>
          <a:xfrm>
            <a:off x="6675120" y="1901952"/>
            <a:ext cx="4663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B7A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Vetted onboarding</a:t>
            </a:r>
            <a:endParaRPr lang="en-US" sz="1450" dirty="0"/>
          </a:p>
        </p:txBody>
      </p:sp>
      <p:sp>
        <p:nvSpPr>
          <p:cNvPr id="22" name="Text 20"/>
          <p:cNvSpPr/>
          <p:nvPr/>
        </p:nvSpPr>
        <p:spPr>
          <a:xfrm>
            <a:off x="6675120" y="2212848"/>
            <a:ext cx="47548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5C6E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New accounts are held pending administrator approval before any access is granted.</a:t>
            </a:r>
            <a:endParaRPr lang="en-US" sz="1150" dirty="0"/>
          </a:p>
        </p:txBody>
      </p:sp>
      <p:sp>
        <p:nvSpPr>
          <p:cNvPr id="23" name="Shape 21"/>
          <p:cNvSpPr/>
          <p:nvPr/>
        </p:nvSpPr>
        <p:spPr>
          <a:xfrm>
            <a:off x="6400800" y="2807208"/>
            <a:ext cx="5239512" cy="877824"/>
          </a:xfrm>
          <a:prstGeom prst="roundRect">
            <a:avLst>
              <a:gd name="adj" fmla="val 9375"/>
            </a:avLst>
          </a:prstGeom>
          <a:solidFill>
            <a:srgbClr val="F0F7F1"/>
          </a:solidFill>
          <a:ln/>
          <a:effectLst>
            <a:outerShdw sx="100000" sy="100000" kx="0" ky="0" algn="bl" rotWithShape="0" blurRad="101600" dist="38100" dir="5400000">
              <a:srgbClr val="0A1626">
                <a:alpha val="10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6675120" y="2926080"/>
            <a:ext cx="4663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B7A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Administrator dashboard</a:t>
            </a:r>
            <a:endParaRPr lang="en-US" sz="1450" dirty="0"/>
          </a:p>
        </p:txBody>
      </p:sp>
      <p:sp>
        <p:nvSpPr>
          <p:cNvPr id="25" name="Text 23"/>
          <p:cNvSpPr/>
          <p:nvPr/>
        </p:nvSpPr>
        <p:spPr>
          <a:xfrm>
            <a:off x="6675120" y="3236976"/>
            <a:ext cx="47548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5C6E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Approve, modify, disable or remove accounts and assign roles &amp; commands.</a:t>
            </a:r>
            <a:endParaRPr lang="en-US" sz="1150" dirty="0"/>
          </a:p>
        </p:txBody>
      </p:sp>
      <p:sp>
        <p:nvSpPr>
          <p:cNvPr id="26" name="Shape 24"/>
          <p:cNvSpPr/>
          <p:nvPr/>
        </p:nvSpPr>
        <p:spPr>
          <a:xfrm>
            <a:off x="6400800" y="3831336"/>
            <a:ext cx="5239512" cy="877824"/>
          </a:xfrm>
          <a:prstGeom prst="roundRect">
            <a:avLst>
              <a:gd name="adj" fmla="val 9375"/>
            </a:avLst>
          </a:prstGeom>
          <a:solidFill>
            <a:srgbClr val="F0F7F1"/>
          </a:solidFill>
          <a:ln/>
          <a:effectLst>
            <a:outerShdw sx="100000" sy="100000" kx="0" ky="0" algn="bl" rotWithShape="0" blurRad="101600" dist="38100" dir="5400000">
              <a:srgbClr val="0A1626">
                <a:alpha val="10000"/>
              </a:srgbClr>
            </a:outerShdw>
          </a:effectLst>
        </p:spPr>
      </p:sp>
      <p:sp>
        <p:nvSpPr>
          <p:cNvPr id="27" name="Text 25"/>
          <p:cNvSpPr/>
          <p:nvPr/>
        </p:nvSpPr>
        <p:spPr>
          <a:xfrm>
            <a:off x="6675120" y="3950208"/>
            <a:ext cx="4663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B7A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Full audit trail</a:t>
            </a:r>
            <a:endParaRPr lang="en-US" sz="1450" dirty="0"/>
          </a:p>
        </p:txBody>
      </p:sp>
      <p:sp>
        <p:nvSpPr>
          <p:cNvPr id="28" name="Text 26"/>
          <p:cNvSpPr/>
          <p:nvPr/>
        </p:nvSpPr>
        <p:spPr>
          <a:xfrm>
            <a:off x="6675120" y="4261104"/>
            <a:ext cx="47548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5C6E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sign-in, alert action, incident and tasking is logged and attributable.</a:t>
            </a:r>
            <a:endParaRPr lang="en-US" sz="1150" dirty="0"/>
          </a:p>
        </p:txBody>
      </p:sp>
      <p:sp>
        <p:nvSpPr>
          <p:cNvPr id="29" name="Shape 27"/>
          <p:cNvSpPr/>
          <p:nvPr/>
        </p:nvSpPr>
        <p:spPr>
          <a:xfrm>
            <a:off x="6400800" y="4855464"/>
            <a:ext cx="5239512" cy="877824"/>
          </a:xfrm>
          <a:prstGeom prst="roundRect">
            <a:avLst>
              <a:gd name="adj" fmla="val 9375"/>
            </a:avLst>
          </a:prstGeom>
          <a:solidFill>
            <a:srgbClr val="F0F7F1"/>
          </a:solidFill>
          <a:ln/>
          <a:effectLst>
            <a:outerShdw sx="100000" sy="100000" kx="0" ky="0" algn="bl" rotWithShape="0" blurRad="101600" dist="38100" dir="5400000">
              <a:srgbClr val="0A1626">
                <a:alpha val="10000"/>
              </a:srgbClr>
            </a:outerShdw>
          </a:effectLst>
        </p:spPr>
      </p:sp>
      <p:sp>
        <p:nvSpPr>
          <p:cNvPr id="30" name="Text 28"/>
          <p:cNvSpPr/>
          <p:nvPr/>
        </p:nvSpPr>
        <p:spPr>
          <a:xfrm>
            <a:off x="6675120" y="4974336"/>
            <a:ext cx="4663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B7A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Persistent &amp; secure</a:t>
            </a:r>
            <a:endParaRPr lang="en-US" sz="1450" dirty="0"/>
          </a:p>
        </p:txBody>
      </p:sp>
      <p:sp>
        <p:nvSpPr>
          <p:cNvPr id="31" name="Text 29"/>
          <p:cNvSpPr/>
          <p:nvPr/>
        </p:nvSpPr>
        <p:spPr>
          <a:xfrm>
            <a:off x="6675120" y="5285232"/>
            <a:ext cx="47548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5C6E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Accounts and records stored in a managed database; access is encrypted end-to-end.</a:t>
            </a:r>
            <a:endParaRPr lang="en-US" sz="1150" dirty="0"/>
          </a:p>
        </p:txBody>
      </p:sp>
      <p:sp>
        <p:nvSpPr>
          <p:cNvPr id="32" name="Text 30"/>
          <p:cNvSpPr/>
          <p:nvPr/>
        </p:nvSpPr>
        <p:spPr>
          <a:xfrm>
            <a:off x="54864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326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SeaWatch</a:t>
            </a:r>
            <a:pPr indent="0" marL="0">
              <a:buNone/>
            </a:pPr>
            <a:r>
              <a:rPr lang="en-US" sz="900" dirty="0">
                <a:solidFill>
                  <a:srgbClr val="5C6E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Ghana Navy Maritime Domain Awareness</a:t>
            </a:r>
            <a:endParaRPr lang="en-US" sz="900" dirty="0"/>
          </a:p>
        </p:txBody>
      </p:sp>
      <p:sp>
        <p:nvSpPr>
          <p:cNvPr id="33" name="Text 31"/>
          <p:cNvSpPr/>
          <p:nvPr/>
        </p:nvSpPr>
        <p:spPr>
          <a:xfrm>
            <a:off x="11277295" y="6473952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C6E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200" kern="0" dirty="0">
                <a:solidFill>
                  <a:srgbClr val="F2C2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CAPABILITY 6 — DECISION SUPPORT</a:t>
            </a:r>
            <a:endParaRPr lang="en-US" sz="1250" dirty="0"/>
          </a:p>
        </p:txBody>
      </p:sp>
      <p:sp>
        <p:nvSpPr>
          <p:cNvPr id="3" name="Text 1"/>
          <p:cNvSpPr/>
          <p:nvPr/>
        </p:nvSpPr>
        <p:spPr>
          <a:xfrm>
            <a:off x="548640" y="749808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100" b="1" dirty="0">
                <a:solidFill>
                  <a:srgbClr val="1326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Replay, reporting &amp; command tools</a:t>
            </a:r>
            <a:endParaRPr lang="en-US" sz="3100" dirty="0"/>
          </a:p>
        </p:txBody>
      </p:sp>
      <p:sp>
        <p:nvSpPr>
          <p:cNvPr id="4" name="Shape 2"/>
          <p:cNvSpPr/>
          <p:nvPr/>
        </p:nvSpPr>
        <p:spPr>
          <a:xfrm>
            <a:off x="548640" y="1828800"/>
            <a:ext cx="5394960" cy="1691640"/>
          </a:xfrm>
          <a:prstGeom prst="roundRect">
            <a:avLst>
              <a:gd name="adj" fmla="val 4865"/>
            </a:avLst>
          </a:prstGeom>
          <a:solidFill>
            <a:srgbClr val="F3F7FB"/>
          </a:solidFill>
          <a:ln/>
          <a:effectLst>
            <a:outerShdw sx="100000" sy="100000" kx="0" ky="0" algn="bl" rotWithShape="0" blurRad="101600" dist="38100" dir="5400000">
              <a:srgbClr val="0A1626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841248" y="2121408"/>
            <a:ext cx="457200" cy="457200"/>
          </a:xfrm>
          <a:prstGeom prst="ellipse">
            <a:avLst/>
          </a:prstGeom>
          <a:solidFill>
            <a:srgbClr val="0A1A2E"/>
          </a:solidFill>
          <a:ln/>
          <a:effectLst>
            <a:outerShdw sx="100000" sy="100000" kx="0" ky="0" algn="bl" rotWithShape="0" blurRad="76200" dist="25400" dir="5400000">
              <a:srgbClr val="0A1626">
                <a:alpha val="18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841248" y="212140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1508760" y="2103120"/>
            <a:ext cx="4206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326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Track replay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868680" y="2670048"/>
            <a:ext cx="48463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5C6E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Scrub or play back the last hours of the picture to reconstruct an event or brief command.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6172200" y="1828800"/>
            <a:ext cx="5394960" cy="1691640"/>
          </a:xfrm>
          <a:prstGeom prst="roundRect">
            <a:avLst>
              <a:gd name="adj" fmla="val 4865"/>
            </a:avLst>
          </a:prstGeom>
          <a:solidFill>
            <a:srgbClr val="F3F7FB"/>
          </a:solidFill>
          <a:ln/>
          <a:effectLst>
            <a:outerShdw sx="100000" sy="100000" kx="0" ky="0" algn="bl" rotWithShape="0" blurRad="101600" dist="38100" dir="5400000">
              <a:srgbClr val="0A1626">
                <a:alpha val="10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6464808" y="2121408"/>
            <a:ext cx="457200" cy="457200"/>
          </a:xfrm>
          <a:prstGeom prst="ellipse">
            <a:avLst/>
          </a:prstGeom>
          <a:solidFill>
            <a:srgbClr val="0A1A2E"/>
          </a:solidFill>
          <a:ln/>
          <a:effectLst>
            <a:outerShdw sx="100000" sy="100000" kx="0" ky="0" algn="bl" rotWithShape="0" blurRad="76200" dist="25400" dir="5400000">
              <a:srgbClr val="0A1626">
                <a:alpha val="18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6464808" y="212140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800" dirty="0"/>
          </a:p>
        </p:txBody>
      </p:sp>
      <p:sp>
        <p:nvSpPr>
          <p:cNvPr id="12" name="Text 10"/>
          <p:cNvSpPr/>
          <p:nvPr/>
        </p:nvSpPr>
        <p:spPr>
          <a:xfrm>
            <a:off x="7132320" y="2103120"/>
            <a:ext cx="4206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326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Printable SITREPs</a:t>
            </a:r>
            <a:endParaRPr lang="en-US" sz="1700" dirty="0"/>
          </a:p>
        </p:txBody>
      </p:sp>
      <p:sp>
        <p:nvSpPr>
          <p:cNvPr id="13" name="Text 11"/>
          <p:cNvSpPr/>
          <p:nvPr/>
        </p:nvSpPr>
        <p:spPr>
          <a:xfrm>
            <a:off x="6492240" y="2670048"/>
            <a:ext cx="48463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5C6E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One-click Maritime Situation Report — current picture, dark contacts, alerts and incidents.</a:t>
            </a: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>
            <a:off x="548640" y="3749040"/>
            <a:ext cx="5394960" cy="1691640"/>
          </a:xfrm>
          <a:prstGeom prst="roundRect">
            <a:avLst>
              <a:gd name="adj" fmla="val 4865"/>
            </a:avLst>
          </a:prstGeom>
          <a:solidFill>
            <a:srgbClr val="F3F7FB"/>
          </a:solidFill>
          <a:ln/>
          <a:effectLst>
            <a:outerShdw sx="100000" sy="100000" kx="0" ky="0" algn="bl" rotWithShape="0" blurRad="101600" dist="38100" dir="5400000">
              <a:srgbClr val="0A1626">
                <a:alpha val="10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841248" y="4041648"/>
            <a:ext cx="457200" cy="457200"/>
          </a:xfrm>
          <a:prstGeom prst="ellipse">
            <a:avLst/>
          </a:prstGeom>
          <a:solidFill>
            <a:srgbClr val="0A1A2E"/>
          </a:solidFill>
          <a:ln/>
          <a:effectLst>
            <a:outerShdw sx="100000" sy="100000" kx="0" ky="0" algn="bl" rotWithShape="0" blurRad="76200" dist="25400" dir="5400000">
              <a:srgbClr val="0A1626">
                <a:alpha val="18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841248" y="404164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1508760" y="4023360"/>
            <a:ext cx="4206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326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Live ⇄ Simulation</a:t>
            </a:r>
            <a:endParaRPr lang="en-US" sz="1700" dirty="0"/>
          </a:p>
        </p:txBody>
      </p:sp>
      <p:sp>
        <p:nvSpPr>
          <p:cNvPr id="18" name="Text 16"/>
          <p:cNvSpPr/>
          <p:nvPr/>
        </p:nvSpPr>
        <p:spPr>
          <a:xfrm>
            <a:off x="868680" y="4590288"/>
            <a:ext cx="48463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5C6E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Switch between live feeds and a realistic training simulation in a single click.</a:t>
            </a:r>
            <a:endParaRPr lang="en-US" sz="1250" dirty="0"/>
          </a:p>
        </p:txBody>
      </p:sp>
      <p:sp>
        <p:nvSpPr>
          <p:cNvPr id="19" name="Shape 17"/>
          <p:cNvSpPr/>
          <p:nvPr/>
        </p:nvSpPr>
        <p:spPr>
          <a:xfrm>
            <a:off x="6172200" y="3749040"/>
            <a:ext cx="5394960" cy="1691640"/>
          </a:xfrm>
          <a:prstGeom prst="roundRect">
            <a:avLst>
              <a:gd name="adj" fmla="val 4865"/>
            </a:avLst>
          </a:prstGeom>
          <a:solidFill>
            <a:srgbClr val="F3F7FB"/>
          </a:solidFill>
          <a:ln/>
          <a:effectLst>
            <a:outerShdw sx="100000" sy="100000" kx="0" ky="0" algn="bl" rotWithShape="0" blurRad="101600" dist="38100" dir="5400000">
              <a:srgbClr val="0A1626">
                <a:alpha val="10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6464808" y="4041648"/>
            <a:ext cx="457200" cy="457200"/>
          </a:xfrm>
          <a:prstGeom prst="ellipse">
            <a:avLst/>
          </a:prstGeom>
          <a:solidFill>
            <a:srgbClr val="0A1A2E"/>
          </a:solidFill>
          <a:ln/>
          <a:effectLst>
            <a:outerShdw sx="100000" sy="100000" kx="0" ky="0" algn="bl" rotWithShape="0" blurRad="76200" dist="25400" dir="5400000">
              <a:srgbClr val="0A1626">
                <a:alpha val="18000"/>
              </a:srgbClr>
            </a:outerShdw>
          </a:effectLst>
        </p:spPr>
      </p:sp>
      <p:sp>
        <p:nvSpPr>
          <p:cNvPr id="21" name="Text 19"/>
          <p:cNvSpPr/>
          <p:nvPr/>
        </p:nvSpPr>
        <p:spPr>
          <a:xfrm>
            <a:off x="6464808" y="404164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1800" dirty="0"/>
          </a:p>
        </p:txBody>
      </p:sp>
      <p:sp>
        <p:nvSpPr>
          <p:cNvPr id="22" name="Text 20"/>
          <p:cNvSpPr/>
          <p:nvPr/>
        </p:nvSpPr>
        <p:spPr>
          <a:xfrm>
            <a:off x="7132320" y="4023360"/>
            <a:ext cx="4206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326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Map analysis tools</a:t>
            </a:r>
            <a:endParaRPr lang="en-US" sz="1700" dirty="0"/>
          </a:p>
        </p:txBody>
      </p:sp>
      <p:sp>
        <p:nvSpPr>
          <p:cNvPr id="23" name="Text 21"/>
          <p:cNvSpPr/>
          <p:nvPr/>
        </p:nvSpPr>
        <p:spPr>
          <a:xfrm>
            <a:off x="6492240" y="4590288"/>
            <a:ext cx="48463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5C6E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Distance &amp; bearing, range rings, and area drawing for planning and search.</a:t>
            </a:r>
            <a:endParaRPr lang="en-US" sz="1250" dirty="0"/>
          </a:p>
        </p:txBody>
      </p:sp>
      <p:sp>
        <p:nvSpPr>
          <p:cNvPr id="24" name="Text 22"/>
          <p:cNvSpPr/>
          <p:nvPr/>
        </p:nvSpPr>
        <p:spPr>
          <a:xfrm>
            <a:off x="54864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326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SeaWatch</a:t>
            </a:r>
            <a:pPr indent="0" marL="0">
              <a:buNone/>
            </a:pPr>
            <a:r>
              <a:rPr lang="en-US" sz="900" dirty="0">
                <a:solidFill>
                  <a:srgbClr val="5C6E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Ghana Navy Maritime Domain Awareness</a:t>
            </a:r>
            <a:endParaRPr lang="en-US" sz="900" dirty="0"/>
          </a:p>
        </p:txBody>
      </p:sp>
      <p:sp>
        <p:nvSpPr>
          <p:cNvPr id="25" name="Text 23"/>
          <p:cNvSpPr/>
          <p:nvPr/>
        </p:nvSpPr>
        <p:spPr>
          <a:xfrm>
            <a:off x="11277295" y="6473952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C6E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200" kern="0" dirty="0">
                <a:solidFill>
                  <a:srgbClr val="2E6F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DEPLOYMENT</a:t>
            </a:r>
            <a:endParaRPr lang="en-US" sz="1250" dirty="0"/>
          </a:p>
        </p:txBody>
      </p:sp>
      <p:sp>
        <p:nvSpPr>
          <p:cNvPr id="3" name="Text 1"/>
          <p:cNvSpPr/>
          <p:nvPr/>
        </p:nvSpPr>
        <p:spPr>
          <a:xfrm>
            <a:off x="548640" y="749808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100" b="1" dirty="0">
                <a:solidFill>
                  <a:srgbClr val="1326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Secure, always-on, accessible anywhere</a:t>
            </a:r>
            <a:endParaRPr lang="en-US" sz="3100" dirty="0"/>
          </a:p>
        </p:txBody>
      </p:sp>
      <p:sp>
        <p:nvSpPr>
          <p:cNvPr id="4" name="Shape 2"/>
          <p:cNvSpPr/>
          <p:nvPr/>
        </p:nvSpPr>
        <p:spPr>
          <a:xfrm>
            <a:off x="548640" y="1828800"/>
            <a:ext cx="11091672" cy="841248"/>
          </a:xfrm>
          <a:prstGeom prst="roundRect">
            <a:avLst>
              <a:gd name="adj" fmla="val 9783"/>
            </a:avLst>
          </a:prstGeom>
          <a:solidFill>
            <a:srgbClr val="EAF1F8"/>
          </a:solidFill>
          <a:ln/>
          <a:effectLst>
            <a:outerShdw sx="100000" sy="100000" kx="0" ky="0" algn="bl" rotWithShape="0" blurRad="101600" dist="38100" dir="5400000">
              <a:srgbClr val="0A1626">
                <a:alpha val="10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868680" y="1828800"/>
            <a:ext cx="27432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E6FB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Web-based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3657600" y="1828800"/>
            <a:ext cx="77724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C6E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installation. Runs in any modern browser on the workstation, laptop or tablet.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548640" y="2816352"/>
            <a:ext cx="11091672" cy="841248"/>
          </a:xfrm>
          <a:prstGeom prst="roundRect">
            <a:avLst>
              <a:gd name="adj" fmla="val 9783"/>
            </a:avLst>
          </a:prstGeom>
          <a:solidFill>
            <a:srgbClr val="F3F7FB"/>
          </a:solidFill>
          <a:ln/>
          <a:effectLst>
            <a:outerShdw sx="100000" sy="100000" kx="0" ky="0" algn="bl" rotWithShape="0" blurRad="101600" dist="38100" dir="5400000">
              <a:srgbClr val="0A1626">
                <a:alpha val="10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868680" y="2816352"/>
            <a:ext cx="27432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E6FB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Always on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3657600" y="2816352"/>
            <a:ext cx="77724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C6E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Cloud-hosted and persistent — operating around the clock, independent of any single machine.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548640" y="3803904"/>
            <a:ext cx="11091672" cy="841248"/>
          </a:xfrm>
          <a:prstGeom prst="roundRect">
            <a:avLst>
              <a:gd name="adj" fmla="val 9783"/>
            </a:avLst>
          </a:prstGeom>
          <a:solidFill>
            <a:srgbClr val="EAF1F8"/>
          </a:solidFill>
          <a:ln/>
          <a:effectLst>
            <a:outerShdw sx="100000" sy="100000" kx="0" ky="0" algn="bl" rotWithShape="0" blurRad="101600" dist="38100" dir="5400000">
              <a:srgbClr val="0A1626">
                <a:alpha val="10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868680" y="3803904"/>
            <a:ext cx="27432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E6FB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Secure access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3657600" y="3803904"/>
            <a:ext cx="77724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C6E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Encrypted (HTTPS), role-gated, with vetted onboarding and full audit logging.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548640" y="4791456"/>
            <a:ext cx="11091672" cy="841248"/>
          </a:xfrm>
          <a:prstGeom prst="roundRect">
            <a:avLst>
              <a:gd name="adj" fmla="val 9783"/>
            </a:avLst>
          </a:prstGeom>
          <a:solidFill>
            <a:srgbClr val="F3F7FB"/>
          </a:solidFill>
          <a:ln/>
          <a:effectLst>
            <a:outerShdw sx="100000" sy="100000" kx="0" ky="0" algn="bl" rotWithShape="0" blurRad="101600" dist="38100" dir="5400000">
              <a:srgbClr val="0A1626">
                <a:alpha val="10000"/>
              </a:srgbClr>
            </a:outerShdw>
          </a:effectLst>
        </p:spPr>
      </p:sp>
      <p:sp>
        <p:nvSpPr>
          <p:cNvPr id="14" name="Text 12"/>
          <p:cNvSpPr/>
          <p:nvPr/>
        </p:nvSpPr>
        <p:spPr>
          <a:xfrm>
            <a:off x="868680" y="4791456"/>
            <a:ext cx="27432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E6FB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Sovereign-ready</a:t>
            </a:r>
            <a:endParaRPr lang="en-US" sz="1600" dirty="0"/>
          </a:p>
        </p:txBody>
      </p:sp>
      <p:sp>
        <p:nvSpPr>
          <p:cNvPr id="15" name="Text 13"/>
          <p:cNvSpPr/>
          <p:nvPr/>
        </p:nvSpPr>
        <p:spPr>
          <a:xfrm>
            <a:off x="3657600" y="4791456"/>
            <a:ext cx="77724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C6E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Can be deployed on Ghana Navy infrastructure or a national sovereign cloud.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548640" y="5943600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i="1" dirty="0">
                <a:solidFill>
                  <a:srgbClr val="5C6E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 for stakeholder testing today — accounts are approved by the administrator before access.</a:t>
            </a:r>
            <a:endParaRPr lang="en-US" sz="1150" dirty="0"/>
          </a:p>
        </p:txBody>
      </p:sp>
      <p:sp>
        <p:nvSpPr>
          <p:cNvPr id="17" name="Text 15"/>
          <p:cNvSpPr/>
          <p:nvPr/>
        </p:nvSpPr>
        <p:spPr>
          <a:xfrm>
            <a:off x="54864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326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SeaWatch</a:t>
            </a:r>
            <a:pPr indent="0" marL="0">
              <a:buNone/>
            </a:pPr>
            <a:r>
              <a:rPr lang="en-US" sz="900" dirty="0">
                <a:solidFill>
                  <a:srgbClr val="5C6E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Ghana Navy Maritime Domain Awareness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11277295" y="6473952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C6E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</a:t>
            </a:r>
            <a:endParaRPr lang="en-US" sz="9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0A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200" kern="0" dirty="0">
                <a:solidFill>
                  <a:srgbClr val="F2C2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BUILT FOR GHANA</a:t>
            </a:r>
            <a:endParaRPr lang="en-US" sz="1250" dirty="0"/>
          </a:p>
        </p:txBody>
      </p:sp>
      <p:sp>
        <p:nvSpPr>
          <p:cNvPr id="3" name="Text 1"/>
          <p:cNvSpPr/>
          <p:nvPr/>
        </p:nvSpPr>
        <p:spPr>
          <a:xfrm>
            <a:off x="548640" y="749808"/>
            <a:ext cx="110642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Tailored to the Ghana Navy &amp; the Yaoundé Architecture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2331720"/>
            <a:ext cx="5394960" cy="1463040"/>
          </a:xfrm>
          <a:prstGeom prst="roundRect">
            <a:avLst>
              <a:gd name="adj" fmla="val 5625"/>
            </a:avLst>
          </a:prstGeom>
          <a:solidFill>
            <a:srgbClr val="17324F"/>
          </a:solidFill>
          <a:ln/>
          <a:effectLst>
            <a:outerShdw sx="100000" sy="100000" kx="0" ky="0" algn="bl" rotWithShape="0" blurRad="101600" dist="38100" dir="5400000">
              <a:srgbClr val="0A1626">
                <a:alpha val="10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868680" y="2532888"/>
            <a:ext cx="47548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F2C2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Ghana Navy command structure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868680" y="3044952"/>
            <a:ext cx="4800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C8D8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NHQ MOC, Western &amp; Eastern Naval Commands and Forward Operating Bases built in.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6172200" y="2331720"/>
            <a:ext cx="5394960" cy="1463040"/>
          </a:xfrm>
          <a:prstGeom prst="roundRect">
            <a:avLst>
              <a:gd name="adj" fmla="val 5625"/>
            </a:avLst>
          </a:prstGeom>
          <a:solidFill>
            <a:srgbClr val="17324F"/>
          </a:solidFill>
          <a:ln/>
          <a:effectLst>
            <a:outerShdw sx="100000" sy="100000" kx="0" ky="0" algn="bl" rotWithShape="0" blurRad="101600" dist="38100" dir="5400000">
              <a:srgbClr val="0A1626">
                <a:alpha val="10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6492240" y="2532888"/>
            <a:ext cx="47548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F2C2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Yaoundé Architecture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6492240" y="3044952"/>
            <a:ext cx="4800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C8D8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Models MMCC Zone F (Accra) and regional information-sharing for Gulf of Guinea security.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548640" y="4023360"/>
            <a:ext cx="5394960" cy="1463040"/>
          </a:xfrm>
          <a:prstGeom prst="roundRect">
            <a:avLst>
              <a:gd name="adj" fmla="val 5625"/>
            </a:avLst>
          </a:prstGeom>
          <a:solidFill>
            <a:srgbClr val="17324F"/>
          </a:solidFill>
          <a:ln/>
          <a:effectLst>
            <a:outerShdw sx="100000" sy="100000" kx="0" ky="0" algn="bl" rotWithShape="0" blurRad="101600" dist="38100" dir="5400000">
              <a:srgbClr val="0A1626">
                <a:alpha val="10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868680" y="4224528"/>
            <a:ext cx="47548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F2C2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National maritime geography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868680" y="4736592"/>
            <a:ext cx="4800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C8D8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Ghana EEZ, territorial sea, Jubilee / TEN / Sankofa oil fields and fishing grounds.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6172200" y="4023360"/>
            <a:ext cx="5394960" cy="1463040"/>
          </a:xfrm>
          <a:prstGeom prst="roundRect">
            <a:avLst>
              <a:gd name="adj" fmla="val 5625"/>
            </a:avLst>
          </a:prstGeom>
          <a:solidFill>
            <a:srgbClr val="17324F"/>
          </a:solidFill>
          <a:ln/>
          <a:effectLst>
            <a:outerShdw sx="100000" sy="100000" kx="0" ky="0" algn="bl" rotWithShape="0" blurRad="101600" dist="38100" dir="5400000">
              <a:srgbClr val="0A1626">
                <a:alpha val="10000"/>
              </a:srgbClr>
            </a:outerShdw>
          </a:effectLst>
        </p:spPr>
      </p:sp>
      <p:sp>
        <p:nvSpPr>
          <p:cNvPr id="14" name="Text 12"/>
          <p:cNvSpPr/>
          <p:nvPr/>
        </p:nvSpPr>
        <p:spPr>
          <a:xfrm>
            <a:off x="6492240" y="4224528"/>
            <a:ext cx="47548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F2C2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Inter-agency by design</a:t>
            </a:r>
            <a:endParaRPr lang="en-US" sz="1600" dirty="0"/>
          </a:p>
        </p:txBody>
      </p:sp>
      <p:sp>
        <p:nvSpPr>
          <p:cNvPr id="15" name="Text 13"/>
          <p:cNvSpPr/>
          <p:nvPr/>
        </p:nvSpPr>
        <p:spPr>
          <a:xfrm>
            <a:off x="6492240" y="4736592"/>
            <a:ext cx="4800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C8D8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Ghana Maritime Authority VTMIS, MRCC and Fisheries Commission as collaborators.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54864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326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SeaWatch</a:t>
            </a:r>
            <a:pPr indent="0" marL="0">
              <a:buNone/>
            </a:pPr>
            <a:r>
              <a:rPr lang="en-US" sz="900" dirty="0">
                <a:solidFill>
                  <a:srgbClr val="5C6E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Ghana Navy Maritime Domain Awareness</a:t>
            </a:r>
            <a:endParaRPr lang="en-US" sz="900" dirty="0"/>
          </a:p>
        </p:txBody>
      </p:sp>
      <p:sp>
        <p:nvSpPr>
          <p:cNvPr id="17" name="Text 15"/>
          <p:cNvSpPr/>
          <p:nvPr/>
        </p:nvSpPr>
        <p:spPr>
          <a:xfrm>
            <a:off x="11277295" y="6473952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C6E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</a:t>
            </a:r>
            <a:endParaRPr lang="en-US" sz="9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200" kern="0" dirty="0">
                <a:solidFill>
                  <a:srgbClr val="0B7A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PATH FORWARD</a:t>
            </a:r>
            <a:endParaRPr lang="en-US" sz="1250" dirty="0"/>
          </a:p>
        </p:txBody>
      </p:sp>
      <p:sp>
        <p:nvSpPr>
          <p:cNvPr id="3" name="Text 1"/>
          <p:cNvSpPr/>
          <p:nvPr/>
        </p:nvSpPr>
        <p:spPr>
          <a:xfrm>
            <a:off x="548640" y="749808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100" b="1" dirty="0">
                <a:solidFill>
                  <a:srgbClr val="1326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Roadmap to an operational system</a:t>
            </a:r>
            <a:endParaRPr lang="en-US" sz="3100" dirty="0"/>
          </a:p>
        </p:txBody>
      </p:sp>
      <p:sp>
        <p:nvSpPr>
          <p:cNvPr id="4" name="Shape 2"/>
          <p:cNvSpPr/>
          <p:nvPr/>
        </p:nvSpPr>
        <p:spPr>
          <a:xfrm>
            <a:off x="548640" y="1965960"/>
            <a:ext cx="2606040" cy="3383280"/>
          </a:xfrm>
          <a:prstGeom prst="roundRect">
            <a:avLst>
              <a:gd name="adj" fmla="val 3158"/>
            </a:avLst>
          </a:prstGeom>
          <a:solidFill>
            <a:srgbClr val="F3F7FB"/>
          </a:solidFill>
          <a:ln/>
          <a:effectLst>
            <a:outerShdw sx="100000" sy="100000" kx="0" ky="0" algn="bl" rotWithShape="0" blurRad="101600" dist="38100" dir="5400000">
              <a:srgbClr val="0A1626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822960" y="2212848"/>
            <a:ext cx="2057400" cy="502920"/>
          </a:xfrm>
          <a:prstGeom prst="roundRect">
            <a:avLst>
              <a:gd name="adj" fmla="val 18182"/>
            </a:avLst>
          </a:prstGeom>
          <a:solidFill>
            <a:srgbClr val="0B7A3B"/>
          </a:solidFill>
          <a:ln/>
        </p:spPr>
      </p:sp>
      <p:sp>
        <p:nvSpPr>
          <p:cNvPr id="6" name="Text 4"/>
          <p:cNvSpPr/>
          <p:nvPr/>
        </p:nvSpPr>
        <p:spPr>
          <a:xfrm>
            <a:off x="822960" y="2212848"/>
            <a:ext cx="2057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Now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841248" y="2926080"/>
            <a:ext cx="205740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5C6E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Operating picture, dark-vessel detection, collaboration, roles &amp; audit — live and demonstrable.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3154680" y="2468880"/>
            <a:ext cx="182880" cy="0"/>
          </a:xfrm>
          <a:prstGeom prst="line">
            <a:avLst/>
          </a:prstGeom>
          <a:noFill/>
          <a:ln w="19050">
            <a:solidFill>
              <a:srgbClr val="B7C6D6"/>
            </a:solidFill>
            <a:prstDash val="solid"/>
            <a:tailEnd type="triangle"/>
          </a:ln>
        </p:spPr>
      </p:sp>
      <p:sp>
        <p:nvSpPr>
          <p:cNvPr id="9" name="Shape 7"/>
          <p:cNvSpPr/>
          <p:nvPr/>
        </p:nvSpPr>
        <p:spPr>
          <a:xfrm>
            <a:off x="3337560" y="1965960"/>
            <a:ext cx="2606040" cy="3383280"/>
          </a:xfrm>
          <a:prstGeom prst="roundRect">
            <a:avLst>
              <a:gd name="adj" fmla="val 3158"/>
            </a:avLst>
          </a:prstGeom>
          <a:solidFill>
            <a:srgbClr val="F3F7FB"/>
          </a:solidFill>
          <a:ln/>
          <a:effectLst>
            <a:outerShdw sx="100000" sy="100000" kx="0" ky="0" algn="bl" rotWithShape="0" blurRad="101600" dist="38100" dir="5400000">
              <a:srgbClr val="0A1626">
                <a:alpha val="10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3611880" y="2212848"/>
            <a:ext cx="2057400" cy="502920"/>
          </a:xfrm>
          <a:prstGeom prst="roundRect">
            <a:avLst>
              <a:gd name="adj" fmla="val 18182"/>
            </a:avLst>
          </a:prstGeom>
          <a:solidFill>
            <a:srgbClr val="2E6FB0"/>
          </a:solidFill>
          <a:ln/>
        </p:spPr>
      </p:sp>
      <p:sp>
        <p:nvSpPr>
          <p:cNvPr id="11" name="Text 9"/>
          <p:cNvSpPr/>
          <p:nvPr/>
        </p:nvSpPr>
        <p:spPr>
          <a:xfrm>
            <a:off x="3611880" y="2212848"/>
            <a:ext cx="2057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Near term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3630168" y="2926080"/>
            <a:ext cx="205740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5C6E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Integrate live regional AIS (terrestrial + satellite), coastal radar and VMS feeds.</a:t>
            </a:r>
            <a:endParaRPr lang="en-US" sz="1250" dirty="0"/>
          </a:p>
        </p:txBody>
      </p:sp>
      <p:sp>
        <p:nvSpPr>
          <p:cNvPr id="13" name="Shape 11"/>
          <p:cNvSpPr/>
          <p:nvPr/>
        </p:nvSpPr>
        <p:spPr>
          <a:xfrm>
            <a:off x="5943600" y="2468880"/>
            <a:ext cx="182880" cy="0"/>
          </a:xfrm>
          <a:prstGeom prst="line">
            <a:avLst/>
          </a:prstGeom>
          <a:noFill/>
          <a:ln w="19050">
            <a:solidFill>
              <a:srgbClr val="B7C6D6"/>
            </a:solidFill>
            <a:prstDash val="solid"/>
            <a:tailEnd type="triangle"/>
          </a:ln>
        </p:spPr>
      </p:sp>
      <p:sp>
        <p:nvSpPr>
          <p:cNvPr id="14" name="Shape 12"/>
          <p:cNvSpPr/>
          <p:nvPr/>
        </p:nvSpPr>
        <p:spPr>
          <a:xfrm>
            <a:off x="6126480" y="1965960"/>
            <a:ext cx="2606040" cy="3383280"/>
          </a:xfrm>
          <a:prstGeom prst="roundRect">
            <a:avLst>
              <a:gd name="adj" fmla="val 3158"/>
            </a:avLst>
          </a:prstGeom>
          <a:solidFill>
            <a:srgbClr val="F3F7FB"/>
          </a:solidFill>
          <a:ln/>
          <a:effectLst>
            <a:outerShdw sx="100000" sy="100000" kx="0" ky="0" algn="bl" rotWithShape="0" blurRad="101600" dist="38100" dir="5400000">
              <a:srgbClr val="0A1626">
                <a:alpha val="10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6400800" y="2212848"/>
            <a:ext cx="2057400" cy="502920"/>
          </a:xfrm>
          <a:prstGeom prst="roundRect">
            <a:avLst>
              <a:gd name="adj" fmla="val 18182"/>
            </a:avLst>
          </a:prstGeom>
          <a:solidFill>
            <a:srgbClr val="B58A00"/>
          </a:solidFill>
          <a:ln/>
        </p:spPr>
      </p:sp>
      <p:sp>
        <p:nvSpPr>
          <p:cNvPr id="16" name="Text 14"/>
          <p:cNvSpPr/>
          <p:nvPr/>
        </p:nvSpPr>
        <p:spPr>
          <a:xfrm>
            <a:off x="6400800" y="2212848"/>
            <a:ext cx="2057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Mid term</a:t>
            </a:r>
            <a:endParaRPr lang="en-US" sz="1500" dirty="0"/>
          </a:p>
        </p:txBody>
      </p:sp>
      <p:sp>
        <p:nvSpPr>
          <p:cNvPr id="17" name="Text 15"/>
          <p:cNvSpPr/>
          <p:nvPr/>
        </p:nvSpPr>
        <p:spPr>
          <a:xfrm>
            <a:off x="6419088" y="2926080"/>
            <a:ext cx="205740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5C6E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Satellite tasking to image dark contacts; pattern-of-life analytics &amp; ML risk scoring.</a:t>
            </a:r>
            <a:endParaRPr lang="en-US" sz="1250" dirty="0"/>
          </a:p>
        </p:txBody>
      </p:sp>
      <p:sp>
        <p:nvSpPr>
          <p:cNvPr id="18" name="Shape 16"/>
          <p:cNvSpPr/>
          <p:nvPr/>
        </p:nvSpPr>
        <p:spPr>
          <a:xfrm>
            <a:off x="8732520" y="2468880"/>
            <a:ext cx="182880" cy="0"/>
          </a:xfrm>
          <a:prstGeom prst="line">
            <a:avLst/>
          </a:prstGeom>
          <a:noFill/>
          <a:ln w="19050">
            <a:solidFill>
              <a:srgbClr val="B7C6D6"/>
            </a:solidFill>
            <a:prstDash val="solid"/>
            <a:tailEnd type="triangle"/>
          </a:ln>
        </p:spPr>
      </p:sp>
      <p:sp>
        <p:nvSpPr>
          <p:cNvPr id="19" name="Shape 17"/>
          <p:cNvSpPr/>
          <p:nvPr/>
        </p:nvSpPr>
        <p:spPr>
          <a:xfrm>
            <a:off x="8915400" y="1965960"/>
            <a:ext cx="2606040" cy="3383280"/>
          </a:xfrm>
          <a:prstGeom prst="roundRect">
            <a:avLst>
              <a:gd name="adj" fmla="val 3158"/>
            </a:avLst>
          </a:prstGeom>
          <a:solidFill>
            <a:srgbClr val="F3F7FB"/>
          </a:solidFill>
          <a:ln/>
          <a:effectLst>
            <a:outerShdw sx="100000" sy="100000" kx="0" ky="0" algn="bl" rotWithShape="0" blurRad="101600" dist="38100" dir="5400000">
              <a:srgbClr val="0A1626">
                <a:alpha val="10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9189720" y="2212848"/>
            <a:ext cx="2057400" cy="502920"/>
          </a:xfrm>
          <a:prstGeom prst="roundRect">
            <a:avLst>
              <a:gd name="adj" fmla="val 18182"/>
            </a:avLst>
          </a:prstGeom>
          <a:solidFill>
            <a:srgbClr val="C8102E"/>
          </a:solidFill>
          <a:ln/>
        </p:spPr>
      </p:sp>
      <p:sp>
        <p:nvSpPr>
          <p:cNvPr id="21" name="Text 19"/>
          <p:cNvSpPr/>
          <p:nvPr/>
        </p:nvSpPr>
        <p:spPr>
          <a:xfrm>
            <a:off x="9189720" y="2212848"/>
            <a:ext cx="2057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Operational</a:t>
            </a:r>
            <a:endParaRPr lang="en-US" sz="1500" dirty="0"/>
          </a:p>
        </p:txBody>
      </p:sp>
      <p:sp>
        <p:nvSpPr>
          <p:cNvPr id="22" name="Text 20"/>
          <p:cNvSpPr/>
          <p:nvPr/>
        </p:nvSpPr>
        <p:spPr>
          <a:xfrm>
            <a:off x="9208008" y="2926080"/>
            <a:ext cx="205740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5C6E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Hardened sovereign deployment, military authentication, and Yaoundé data-sharing links.</a:t>
            </a:r>
            <a:endParaRPr lang="en-US" sz="1250" dirty="0"/>
          </a:p>
        </p:txBody>
      </p:sp>
      <p:sp>
        <p:nvSpPr>
          <p:cNvPr id="23" name="Text 21"/>
          <p:cNvSpPr/>
          <p:nvPr/>
        </p:nvSpPr>
        <p:spPr>
          <a:xfrm>
            <a:off x="54864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326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SeaWatch</a:t>
            </a:r>
            <a:pPr indent="0" marL="0">
              <a:buNone/>
            </a:pPr>
            <a:r>
              <a:rPr lang="en-US" sz="900" dirty="0">
                <a:solidFill>
                  <a:srgbClr val="5C6E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Ghana Navy Maritime Domain Awareness</a:t>
            </a:r>
            <a:endParaRPr lang="en-US" sz="900" dirty="0"/>
          </a:p>
        </p:txBody>
      </p:sp>
      <p:sp>
        <p:nvSpPr>
          <p:cNvPr id="24" name="Text 22"/>
          <p:cNvSpPr/>
          <p:nvPr/>
        </p:nvSpPr>
        <p:spPr>
          <a:xfrm>
            <a:off x="11277295" y="6473952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C6E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</a:t>
            </a:r>
            <a:endParaRPr lang="en-US" sz="9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0A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res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58968" y="1097280"/>
            <a:ext cx="1280160" cy="1225296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914400" y="2514600"/>
            <a:ext cx="1036015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SeaWatch</a:t>
            </a:r>
            <a:endParaRPr lang="en-US" sz="5000" dirty="0"/>
          </a:p>
        </p:txBody>
      </p:sp>
      <p:sp>
        <p:nvSpPr>
          <p:cNvPr id="4" name="Text 1"/>
          <p:cNvSpPr/>
          <p:nvPr/>
        </p:nvSpPr>
        <p:spPr>
          <a:xfrm>
            <a:off x="914400" y="3520440"/>
            <a:ext cx="103601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dirty="0">
                <a:solidFill>
                  <a:srgbClr val="F2C2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Maritime Domain Awareness for the Ghana Navy</a:t>
            </a:r>
            <a:endParaRPr lang="en-US" sz="1700" dirty="0"/>
          </a:p>
        </p:txBody>
      </p:sp>
      <p:sp>
        <p:nvSpPr>
          <p:cNvPr id="5" name="Shape 2"/>
          <p:cNvSpPr/>
          <p:nvPr/>
        </p:nvSpPr>
        <p:spPr>
          <a:xfrm>
            <a:off x="4270248" y="4160520"/>
            <a:ext cx="3657600" cy="0"/>
          </a:xfrm>
          <a:prstGeom prst="line">
            <a:avLst/>
          </a:prstGeom>
          <a:noFill/>
          <a:ln w="12700">
            <a:solidFill>
              <a:srgbClr val="2A4A6B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914400" y="4297680"/>
            <a:ext cx="103601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i="1" dirty="0">
                <a:solidFill>
                  <a:srgbClr val="CFE0F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See  ·  Detect  ·  Collaborate  ·  Act</a:t>
            </a:r>
            <a:endParaRPr lang="en-US" sz="1600" dirty="0"/>
          </a:p>
        </p:txBody>
      </p:sp>
      <p:sp>
        <p:nvSpPr>
          <p:cNvPr id="7" name="Text 4"/>
          <p:cNvSpPr/>
          <p:nvPr/>
        </p:nvSpPr>
        <p:spPr>
          <a:xfrm>
            <a:off x="914400" y="5212080"/>
            <a:ext cx="103601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8FA8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“Loyalty, Devotion and Excellence”</a:t>
            </a:r>
            <a:endParaRPr lang="en-US" sz="13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16</Slides>
  <Notes>16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16</vt:i4>
      </vt:variant>
    </vt:vector>
  </HeadingPairs>
  <TitlesOfParts>
    <vt:vector size="1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SeaWatch — Ghana Navy MDA Capabilities Brief</dc:title>
  <dc:subject>PptxGenJS Presentation</dc:subject>
  <dc:creator>SeaWatch</dc:creator>
  <cp:lastModifiedBy>SeaWatch</cp:lastModifiedBy>
  <cp:revision>1</cp:revision>
  <dcterms:created xsi:type="dcterms:W3CDTF">2026-06-30T21:12:36Z</dcterms:created>
  <dcterms:modified xsi:type="dcterms:W3CDTF">2026-06-30T21:12:36Z</dcterms:modified>
</cp:coreProperties>
</file>